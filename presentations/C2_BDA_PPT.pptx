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2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ROC AUC: 2022 synthetic test set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AUC</c:v>
                </c:pt>
              </c:strCache>
            </c:strRef>
          </c:tx>
          <c:spPr>
            <a:solidFill>
              <a:srgbClr val="1C2B4A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1C2B4A"/>
              </a:solidFill>
            </c:spPr>
            <c:extLst>
              <c:ext xmlns:c16="http://schemas.microsoft.com/office/drawing/2014/chart" uri="{C3380CC4-5D6E-409C-BE32-E72D297353CC}">
                <c16:uniqueId val="{00000001-F9D8-4E19-B11E-DF17E11E6D61}"/>
              </c:ext>
            </c:extLst>
          </c:dPt>
          <c:dPt>
            <c:idx val="1"/>
            <c:invertIfNegative val="0"/>
            <c:bubble3D val="0"/>
            <c:spPr>
              <a:solidFill>
                <a:srgbClr val="1C2B4A"/>
              </a:solidFill>
            </c:spPr>
            <c:extLst>
              <c:ext xmlns:c16="http://schemas.microsoft.com/office/drawing/2014/chart" uri="{C3380CC4-5D6E-409C-BE32-E72D297353CC}">
                <c16:uniqueId val="{00000003-F9D8-4E19-B11E-DF17E11E6D61}"/>
              </c:ext>
            </c:extLst>
          </c:dPt>
          <c:dPt>
            <c:idx val="2"/>
            <c:invertIfNegative val="0"/>
            <c:bubble3D val="0"/>
            <c:spPr>
              <a:solidFill>
                <a:srgbClr val="1E4438"/>
              </a:solidFill>
            </c:spPr>
            <c:extLst>
              <c:ext xmlns:c16="http://schemas.microsoft.com/office/drawing/2014/chart" uri="{C3380CC4-5D6E-409C-BE32-E72D297353CC}">
                <c16:uniqueId val="{00000005-F9D8-4E19-B11E-DF17E11E6D61}"/>
              </c:ext>
            </c:extLst>
          </c:dPt>
          <c:dPt>
            <c:idx val="3"/>
            <c:invertIfNegative val="0"/>
            <c:bubble3D val="0"/>
            <c:spPr>
              <a:solidFill>
                <a:srgbClr val="C89B3C"/>
              </a:solidFill>
            </c:spPr>
            <c:extLst>
              <c:ext xmlns:c16="http://schemas.microsoft.com/office/drawing/2014/chart" uri="{C3380CC4-5D6E-409C-BE32-E72D297353CC}">
                <c16:uniqueId val="{00000007-F9D8-4E19-B11E-DF17E11E6D61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 b="0" i="0" u="none">
                    <a:solidFill>
                      <a:srgbClr val="1A1A1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RF
(base)</c:v>
                </c:pt>
                <c:pt idx="2">
                  <c:v>RF
(full)</c:v>
                </c:pt>
                <c:pt idx="3">
                  <c:v>Expected Probability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0.56530000000000002</c:v>
                </c:pt>
                <c:pt idx="1">
                  <c:v>0.56699999999999995</c:v>
                </c:pt>
                <c:pt idx="2">
                  <c:v>0.57189999999999996</c:v>
                </c:pt>
                <c:pt idx="3">
                  <c:v>0.59399999999999997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F9D8-4E19-B11E-DF17E11E6D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425" b="0" i="0" u="none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DEDEA"/>
              </a:solidFill>
              <a:prstDash val="solid"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350" b="0" i="0" u="none">
                <a:solidFill>
                  <a:srgbClr val="6B6F6D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IN" sz="1200" b="0" i="0" u="non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Simulated-loss recall at equal review capacity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</c:v>
                </c:pt>
              </c:strCache>
            </c:strRef>
          </c:tx>
          <c:spPr>
            <a:ln w="31750">
              <a:solidFill>
                <a:srgbClr val="6B6F6D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6B6F6D"/>
              </a:solidFill>
              <a:ln w="9525">
                <a:solidFill>
                  <a:srgbClr val="6B6F6D"/>
                </a:solidFill>
                <a:prstDash val="solid"/>
              </a:ln>
            </c:spPr>
          </c:marker>
          <c:cat>
            <c:strRef>
              <c:f>Sheet1!$A$2:$A$4</c:f>
              <c:strCache>
                <c:ptCount val="3"/>
                <c:pt idx="0">
                  <c:v>10% capacity</c:v>
                </c:pt>
                <c:pt idx="1">
                  <c:v>20% capacity</c:v>
                </c:pt>
                <c:pt idx="2">
                  <c:v>30% capacity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10.039999999999999</c:v>
                </c:pt>
                <c:pt idx="1">
                  <c:v>19.940000000000001</c:v>
                </c:pt>
                <c:pt idx="2">
                  <c:v>29.97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72-4969-ACC8-082E3BAF3D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Weather–vegetation rule</c:v>
                </c:pt>
              </c:strCache>
            </c:strRef>
          </c:tx>
          <c:spPr>
            <a:ln w="31750">
              <a:solidFill>
                <a:srgbClr val="C89B3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C89B3C"/>
              </a:solidFill>
              <a:ln w="9525">
                <a:solidFill>
                  <a:srgbClr val="C89B3C"/>
                </a:solidFill>
                <a:prstDash val="solid"/>
              </a:ln>
            </c:spPr>
          </c:marker>
          <c:cat>
            <c:strRef>
              <c:f>Sheet1!$A$2:$A$4</c:f>
              <c:strCache>
                <c:ptCount val="3"/>
                <c:pt idx="0">
                  <c:v>10% capacity</c:v>
                </c:pt>
                <c:pt idx="1">
                  <c:v>20% capacity</c:v>
                </c:pt>
                <c:pt idx="2">
                  <c:v>30% capacity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13.91</c:v>
                </c:pt>
                <c:pt idx="1">
                  <c:v>27.78</c:v>
                </c:pt>
                <c:pt idx="2">
                  <c:v>37.81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72-4969-ACC8-082E3BAF3D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 (full)</c:v>
                </c:pt>
              </c:strCache>
            </c:strRef>
          </c:tx>
          <c:spPr>
            <a:ln w="31750">
              <a:solidFill>
                <a:srgbClr val="1E4438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1E4438"/>
              </a:solidFill>
              <a:ln w="9525">
                <a:solidFill>
                  <a:srgbClr val="1E4438"/>
                </a:solidFill>
                <a:prstDash val="solid"/>
              </a:ln>
            </c:spPr>
          </c:marker>
          <c:cat>
            <c:strRef>
              <c:f>Sheet1!$A$2:$A$4</c:f>
              <c:strCache>
                <c:ptCount val="3"/>
                <c:pt idx="0">
                  <c:v>10% capacity</c:v>
                </c:pt>
                <c:pt idx="1">
                  <c:v>20% capacity</c:v>
                </c:pt>
                <c:pt idx="2">
                  <c:v>30% capacity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14.55</c:v>
                </c:pt>
                <c:pt idx="1">
                  <c:v>27.97</c:v>
                </c:pt>
                <c:pt idx="2">
                  <c:v>38.15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B72-4969-ACC8-082E3BAF3D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425" b="0" i="0" u="none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DEDEA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350" b="0" i="0" u="none">
                <a:solidFill>
                  <a:srgbClr val="6B6F6D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</c:spPr>
    </c:plotArea>
    <c:legend>
      <c:legendPos val="b"/>
      <c:overlay val="0"/>
      <c:txPr>
        <a:bodyPr anchorCtr="1"/>
        <a:lstStyle/>
        <a:p>
          <a:pPr>
            <a:defRPr sz="1275"/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A79E85-CF2A-446E-9607-42281EC01211}"/>
              </a:ext>
            </a:extLst>
          </p:cNvPr>
          <p:cNvSpPr>
            <a:spLocks noGrp="1"/>
          </p:cNvSpPr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5302A"/>
          </a:solidFill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4C855B0-BFD7-45C6-A577-B47AE5B19CA7}"/>
              </a:ext>
            </a:extLst>
          </p:cNvPr>
          <p:cNvSpPr>
            <a:spLocks noGrp="1"/>
          </p:cNvSpPr>
          <p:nvPr/>
        </p:nvSpPr>
        <p:spPr>
          <a:xfrm>
            <a:off x="8503920" y="914400"/>
            <a:ext cx="1371600" cy="1371600"/>
          </a:xfrm>
          <a:prstGeom prst="ellipse">
            <a:avLst/>
          </a:prstGeom>
          <a:solidFill>
            <a:srgbClr val="1E4438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1225296"/>
            <a:ext cx="749808" cy="749808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A75900BF-2521-442D-9012-4134BDE9402F}"/>
              </a:ext>
            </a:extLst>
          </p:cNvPr>
          <p:cNvSpPr>
            <a:spLocks noGrp="1"/>
          </p:cNvSpPr>
          <p:nvPr/>
        </p:nvSpPr>
        <p:spPr>
          <a:xfrm>
            <a:off x="10241280" y="914400"/>
            <a:ext cx="1371600" cy="1371600"/>
          </a:xfrm>
          <a:prstGeom prst="ellipse">
            <a:avLst/>
          </a:prstGeom>
          <a:solidFill>
            <a:srgbClr val="1E4438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2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76" y="1225296"/>
            <a:ext cx="749808" cy="749808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A1FE4D7C-C0CD-465F-AD8C-FBF42B70464F}"/>
              </a:ext>
            </a:extLst>
          </p:cNvPr>
          <p:cNvSpPr>
            <a:spLocks noGrp="1"/>
          </p:cNvSpPr>
          <p:nvPr/>
        </p:nvSpPr>
        <p:spPr>
          <a:xfrm>
            <a:off x="8503920" y="2743200"/>
            <a:ext cx="1371600" cy="1371600"/>
          </a:xfrm>
          <a:prstGeom prst="ellipse">
            <a:avLst/>
          </a:prstGeom>
          <a:solidFill>
            <a:srgbClr val="1E4438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26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16" y="3054096"/>
            <a:ext cx="749808" cy="749808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8010E815-5D2A-44DA-8F0E-2E653BE30712}"/>
              </a:ext>
            </a:extLst>
          </p:cNvPr>
          <p:cNvSpPr>
            <a:spLocks noGrp="1"/>
          </p:cNvSpPr>
          <p:nvPr/>
        </p:nvSpPr>
        <p:spPr>
          <a:xfrm>
            <a:off x="10241280" y="2743200"/>
            <a:ext cx="1371600" cy="1371600"/>
          </a:xfrm>
          <a:prstGeom prst="ellipse">
            <a:avLst/>
          </a:prstGeom>
          <a:solidFill>
            <a:srgbClr val="1E4438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28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054096"/>
            <a:ext cx="749808" cy="74980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D1840C39-8F4E-4BD4-B531-88FBB567AB21}"/>
              </a:ext>
            </a:extLst>
          </p:cNvPr>
          <p:cNvSpPr>
            <a:spLocks noGrp="1"/>
          </p:cNvSpPr>
          <p:nvPr/>
        </p:nvSpPr>
        <p:spPr>
          <a:xfrm>
            <a:off x="548640" y="1380744"/>
            <a:ext cx="694944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05000"/>
              </a:lnSpc>
              <a:buNone/>
            </a:pPr>
            <a:r>
              <a:rPr sz="38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PMFBY CLAIM TRIAGE INTELLIGENCE</a:t>
            </a:r>
            <a:endParaRPr sz="38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882E8125-8D13-4DA9-8064-8F508867088A}"/>
              </a:ext>
            </a:extLst>
          </p:cNvPr>
          <p:cNvSpPr>
            <a:spLocks noGrp="1"/>
          </p:cNvSpPr>
          <p:nvPr/>
        </p:nvSpPr>
        <p:spPr>
          <a:xfrm>
            <a:off x="548640" y="2340864"/>
            <a:ext cx="6949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i="1" dirty="0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Human-Supervised Verification </a:t>
            </a:r>
            <a:r>
              <a:rPr sz="1600" i="1" dirty="0" err="1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Prioritisation</a:t>
            </a:r>
            <a:r>
              <a:rPr sz="1600" i="1" dirty="0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 Using Agricultural Big Data</a:t>
            </a:r>
            <a:endParaRPr sz="16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DB41695-4FB3-4CAD-BFDC-1EAA916AC402}"/>
              </a:ext>
            </a:extLst>
          </p:cNvPr>
          <p:cNvSpPr>
            <a:spLocks noGrp="1"/>
          </p:cNvSpPr>
          <p:nvPr/>
        </p:nvSpPr>
        <p:spPr>
          <a:xfrm>
            <a:off x="658368" y="3054096"/>
            <a:ext cx="2377440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D8EA455-1A2D-4A12-95D3-D7E4691B4727}"/>
              </a:ext>
            </a:extLst>
          </p:cNvPr>
          <p:cNvSpPr>
            <a:spLocks noGrp="1"/>
          </p:cNvSpPr>
          <p:nvPr/>
        </p:nvSpPr>
        <p:spPr>
          <a:xfrm>
            <a:off x="521208" y="3557017"/>
            <a:ext cx="6583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Big Data Analytics  |  Trimester IV  |  Group C-II</a:t>
            </a:r>
            <a:endParaRPr sz="1450" b="1" dirty="0"/>
          </a:p>
          <a:p>
            <a:pPr marL="0" indent="0">
              <a:buNone/>
            </a:pPr>
            <a:endParaRPr sz="145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D23BCA-94D8-7917-878E-64D07AAF7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420277"/>
              </p:ext>
            </p:extLst>
          </p:nvPr>
        </p:nvGraphicFramePr>
        <p:xfrm>
          <a:off x="579119" y="4135182"/>
          <a:ext cx="3749041" cy="2108304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1186405">
                  <a:extLst>
                    <a:ext uri="{9D8B030D-6E8A-4147-A177-3AD203B41FA5}">
                      <a16:colId xmlns:a16="http://schemas.microsoft.com/office/drawing/2014/main" val="4133384300"/>
                    </a:ext>
                  </a:extLst>
                </a:gridCol>
                <a:gridCol w="2562636">
                  <a:extLst>
                    <a:ext uri="{9D8B030D-6E8A-4147-A177-3AD203B41FA5}">
                      <a16:colId xmlns:a16="http://schemas.microsoft.com/office/drawing/2014/main" val="1877864430"/>
                    </a:ext>
                  </a:extLst>
                </a:gridCol>
              </a:tblGrid>
              <a:tr h="3513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effectLst/>
                        </a:rPr>
                        <a:t>C004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Navneet Narula</a:t>
                      </a:r>
                      <a:endParaRPr lang="en-IN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extLst>
                  <a:ext uri="{0D108BD9-81ED-4DB2-BD59-A6C34878D82A}">
                    <a16:rowId xmlns:a16="http://schemas.microsoft.com/office/drawing/2014/main" val="2893257731"/>
                  </a:ext>
                </a:extLst>
              </a:tr>
              <a:tr h="3513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dirty="0">
                          <a:effectLst/>
                        </a:rPr>
                        <a:t>C010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dirty="0">
                          <a:effectLst/>
                        </a:rPr>
                        <a:t>Keshav Arora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extLst>
                  <a:ext uri="{0D108BD9-81ED-4DB2-BD59-A6C34878D82A}">
                    <a16:rowId xmlns:a16="http://schemas.microsoft.com/office/drawing/2014/main" val="3549459684"/>
                  </a:ext>
                </a:extLst>
              </a:tr>
              <a:tr h="3513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C030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dirty="0">
                          <a:effectLst/>
                        </a:rPr>
                        <a:t>Piyush Joshi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extLst>
                  <a:ext uri="{0D108BD9-81ED-4DB2-BD59-A6C34878D82A}">
                    <a16:rowId xmlns:a16="http://schemas.microsoft.com/office/drawing/2014/main" val="941871990"/>
                  </a:ext>
                </a:extLst>
              </a:tr>
              <a:tr h="3513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dirty="0">
                          <a:effectLst/>
                        </a:rPr>
                        <a:t>C036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dirty="0">
                          <a:effectLst/>
                        </a:rPr>
                        <a:t>Vedanti Agrawal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extLst>
                  <a:ext uri="{0D108BD9-81ED-4DB2-BD59-A6C34878D82A}">
                    <a16:rowId xmlns:a16="http://schemas.microsoft.com/office/drawing/2014/main" val="8017623"/>
                  </a:ext>
                </a:extLst>
              </a:tr>
              <a:tr h="3513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C043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dirty="0">
                          <a:effectLst/>
                        </a:rPr>
                        <a:t>Bhadrashatte Manav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extLst>
                  <a:ext uri="{0D108BD9-81ED-4DB2-BD59-A6C34878D82A}">
                    <a16:rowId xmlns:a16="http://schemas.microsoft.com/office/drawing/2014/main" val="2056882006"/>
                  </a:ext>
                </a:extLst>
              </a:tr>
              <a:tr h="3513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C051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0" dirty="0">
                          <a:effectLst/>
                        </a:rPr>
                        <a:t>Aman Agrawal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34925" marB="34925" anchor="ctr"/>
                </a:tc>
                <a:extLst>
                  <a:ext uri="{0D108BD9-81ED-4DB2-BD59-A6C34878D82A}">
                    <a16:rowId xmlns:a16="http://schemas.microsoft.com/office/drawing/2014/main" val="2786050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664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3FD77F-003F-41CD-97FB-01F4DB4ADD7A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 spc="200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BUSINESS PROBLEM  ·  INDUSTRY BACKGROUND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2C2880-B89E-4BE0-9BD6-97FDCE735A82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The Verification Bottleneck in Crop Insurance</a:t>
            </a:r>
            <a:endParaRPr sz="3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F47C04-076F-4E3C-922C-74064ABE1A06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594360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Where assessment capacity is limited, which cases should be assessed first?</a:t>
            </a:r>
            <a:endParaRPr sz="1400"/>
          </a:p>
          <a:p>
            <a:pPr marL="0" indent="0">
              <a:lnSpc>
                <a:spcPct val="125000"/>
              </a:lnSpc>
              <a:buNone/>
            </a:pPr>
            <a:endParaRPr sz="1400"/>
          </a:p>
          <a:p>
            <a:pPr marL="0" indent="0">
              <a:lnSpc>
                <a:spcPct val="125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We combine agricultural, weather and vegetation evidence to compare review queues using simulated outcomes.</a:t>
            </a:r>
            <a:endParaRPr sz="1400"/>
          </a:p>
          <a:p>
            <a:pPr marL="0" indent="0">
              <a:lnSpc>
                <a:spcPct val="125000"/>
              </a:lnSpc>
              <a:buNone/>
            </a:pPr>
            <a:endParaRPr sz="1400"/>
          </a:p>
          <a:p>
            <a:pPr marL="0" indent="0">
              <a:lnSpc>
                <a:spcPct val="125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intended benefit is earlier assessment of cases showing evidence of loss.</a:t>
            </a:r>
            <a:endParaRPr sz="1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EDC7385-38C0-45CC-90BB-9C07510E27CD}"/>
              </a:ext>
            </a:extLst>
          </p:cNvPr>
          <p:cNvSpPr>
            <a:spLocks noGrp="1"/>
          </p:cNvSpPr>
          <p:nvPr/>
        </p:nvSpPr>
        <p:spPr>
          <a:xfrm>
            <a:off x="548640" y="507492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EAF0EC"/>
          </a:solidFill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F05746-CE92-4551-83DD-853925FDF288}"/>
              </a:ext>
            </a:extLst>
          </p:cNvPr>
          <p:cNvSpPr>
            <a:spLocks noGrp="1"/>
          </p:cNvSpPr>
          <p:nvPr/>
        </p:nvSpPr>
        <p:spPr>
          <a:xfrm>
            <a:off x="777240" y="5074920"/>
            <a:ext cx="548640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b="1" i="0" dirty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Business question</a:t>
            </a:r>
            <a:endParaRPr sz="1400" dirty="0"/>
          </a:p>
          <a:p>
            <a:pPr marL="0" indent="0">
              <a:lnSpc>
                <a:spcPct val="115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b="1" i="0" dirty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Which cases enter the first review batch?</a:t>
            </a:r>
            <a:endParaRPr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0E23690-F80A-49B7-B7DB-16876339697A}"/>
              </a:ext>
            </a:extLst>
          </p:cNvPr>
          <p:cNvSpPr>
            <a:spLocks noGrp="1"/>
          </p:cNvSpPr>
          <p:nvPr/>
        </p:nvSpPr>
        <p:spPr>
          <a:xfrm>
            <a:off x="6903720" y="1600200"/>
            <a:ext cx="4754880" cy="1207008"/>
          </a:xfrm>
          <a:prstGeom prst="roundRect">
            <a:avLst>
              <a:gd name="adj" fmla="val 4545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E724828-DFB1-46F5-A627-0B328ED1CF40}"/>
              </a:ext>
            </a:extLst>
          </p:cNvPr>
          <p:cNvSpPr>
            <a:spLocks noGrp="1"/>
          </p:cNvSpPr>
          <p:nvPr/>
        </p:nvSpPr>
        <p:spPr>
          <a:xfrm>
            <a:off x="7086600" y="1792224"/>
            <a:ext cx="822960" cy="822960"/>
          </a:xfrm>
          <a:prstGeom prst="ellipse">
            <a:avLst/>
          </a:prstGeom>
          <a:solidFill>
            <a:srgbClr val="1E4438"/>
          </a:solidFill>
        </p:spPr>
      </p:sp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585" y="1899209"/>
            <a:ext cx="608990" cy="60899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22D7E010-29FD-484F-A6D1-DD715910EA37}"/>
              </a:ext>
            </a:extLst>
          </p:cNvPr>
          <p:cNvSpPr>
            <a:spLocks noGrp="1"/>
          </p:cNvSpPr>
          <p:nvPr/>
        </p:nvSpPr>
        <p:spPr>
          <a:xfrm>
            <a:off x="8046720" y="1673352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4438"/>
                </a:solidFill>
                <a:latin typeface="Cambria"/>
                <a:ea typeface="Cambria"/>
                <a:cs typeface="Cambria"/>
              </a:rPr>
              <a:t>4,497</a:t>
            </a:r>
            <a:endParaRPr sz="26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FF37B1E-C0A7-4512-9A6E-0CCDF5347DE7}"/>
              </a:ext>
            </a:extLst>
          </p:cNvPr>
          <p:cNvSpPr>
            <a:spLocks noGrp="1"/>
          </p:cNvSpPr>
          <p:nvPr/>
        </p:nvSpPr>
        <p:spPr>
          <a:xfrm>
            <a:off x="8046720" y="2203704"/>
            <a:ext cx="3474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05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District-season-year</a:t>
            </a:r>
            <a:endParaRPr sz="1100"/>
          </a:p>
          <a:p>
            <a:pPr marL="0" indent="0">
              <a:lnSpc>
                <a:spcPct val="105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evidence contexts</a:t>
            </a:r>
            <a:endParaRPr sz="11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22C4681-EA4C-4C54-98F8-05FD6CCD640F}"/>
              </a:ext>
            </a:extLst>
          </p:cNvPr>
          <p:cNvSpPr>
            <a:spLocks noGrp="1"/>
          </p:cNvSpPr>
          <p:nvPr/>
        </p:nvSpPr>
        <p:spPr>
          <a:xfrm>
            <a:off x="6903720" y="3017520"/>
            <a:ext cx="4754880" cy="1207008"/>
          </a:xfrm>
          <a:prstGeom prst="roundRect">
            <a:avLst>
              <a:gd name="adj" fmla="val 4545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C821E35-9498-4802-B1E2-CA68F6CBEE85}"/>
              </a:ext>
            </a:extLst>
          </p:cNvPr>
          <p:cNvSpPr>
            <a:spLocks noGrp="1"/>
          </p:cNvSpPr>
          <p:nvPr/>
        </p:nvSpPr>
        <p:spPr>
          <a:xfrm>
            <a:off x="7086600" y="3209544"/>
            <a:ext cx="822960" cy="822960"/>
          </a:xfrm>
          <a:prstGeom prst="ellipse">
            <a:avLst/>
          </a:prstGeom>
          <a:solidFill>
            <a:srgbClr val="1E4438"/>
          </a:solidFill>
        </p:spPr>
      </p:sp>
      <p:pic>
        <p:nvPicPr>
          <p:cNvPr id="3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585" y="3316529"/>
            <a:ext cx="608990" cy="60899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92CE30F6-1269-48C9-A631-529E9F4B5597}"/>
              </a:ext>
            </a:extLst>
          </p:cNvPr>
          <p:cNvSpPr>
            <a:spLocks noGrp="1"/>
          </p:cNvSpPr>
          <p:nvPr/>
        </p:nvSpPr>
        <p:spPr>
          <a:xfrm>
            <a:off x="8046720" y="3090672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 dirty="0">
                <a:solidFill>
                  <a:srgbClr val="1E4438"/>
                </a:solidFill>
                <a:latin typeface="Cambria"/>
                <a:ea typeface="Cambria"/>
                <a:cs typeface="Cambria"/>
              </a:rPr>
              <a:t>2.0M</a:t>
            </a:r>
            <a:endParaRPr sz="2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6E2A08CC-4C25-4951-899C-F4F0C894E7D6}"/>
              </a:ext>
            </a:extLst>
          </p:cNvPr>
          <p:cNvSpPr>
            <a:spLocks noGrp="1"/>
          </p:cNvSpPr>
          <p:nvPr/>
        </p:nvSpPr>
        <p:spPr>
          <a:xfrm>
            <a:off x="8046720" y="3621024"/>
            <a:ext cx="3474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05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Synthetic loss and</a:t>
            </a:r>
            <a:endParaRPr sz="1100"/>
          </a:p>
          <a:p>
            <a:pPr marL="0" indent="0">
              <a:lnSpc>
                <a:spcPct val="105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non-loss scenarios</a:t>
            </a:r>
            <a:endParaRPr sz="110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1174D66-BDA6-4565-8B89-05150C112A5E}"/>
              </a:ext>
            </a:extLst>
          </p:cNvPr>
          <p:cNvSpPr>
            <a:spLocks noGrp="1"/>
          </p:cNvSpPr>
          <p:nvPr/>
        </p:nvSpPr>
        <p:spPr>
          <a:xfrm>
            <a:off x="6903720" y="4434840"/>
            <a:ext cx="4754880" cy="1207008"/>
          </a:xfrm>
          <a:prstGeom prst="roundRect">
            <a:avLst>
              <a:gd name="adj" fmla="val 4545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8929C15-068D-481C-9240-C81904D18FC4}"/>
              </a:ext>
            </a:extLst>
          </p:cNvPr>
          <p:cNvSpPr>
            <a:spLocks noGrp="1"/>
          </p:cNvSpPr>
          <p:nvPr/>
        </p:nvSpPr>
        <p:spPr>
          <a:xfrm>
            <a:off x="7086600" y="4626864"/>
            <a:ext cx="822960" cy="822960"/>
          </a:xfrm>
          <a:prstGeom prst="ellipse">
            <a:avLst/>
          </a:prstGeom>
          <a:solidFill>
            <a:srgbClr val="1E4438"/>
          </a:solidFill>
        </p:spPr>
      </p:sp>
      <p:pic>
        <p:nvPicPr>
          <p:cNvPr id="4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585" y="4733849"/>
            <a:ext cx="608990" cy="608990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A1CDD827-1FE2-413E-9479-448F270F36A1}"/>
              </a:ext>
            </a:extLst>
          </p:cNvPr>
          <p:cNvSpPr>
            <a:spLocks noGrp="1"/>
          </p:cNvSpPr>
          <p:nvPr/>
        </p:nvSpPr>
        <p:spPr>
          <a:xfrm>
            <a:off x="8039100" y="4495800"/>
            <a:ext cx="3429000" cy="5524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2400" i="0">
                <a:latin typeface="Calibri"/>
                <a:ea typeface="Calibri"/>
                <a:cs typeface="Calibri"/>
              </a:defRPr>
            </a:pPr>
            <a:r>
              <a:rPr sz="2400" b="1" i="0" dirty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Evidence</a:t>
            </a:r>
            <a:endParaRPr sz="26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AEF0812A-38A3-472A-A65A-9C376567D1FF}"/>
              </a:ext>
            </a:extLst>
          </p:cNvPr>
          <p:cNvSpPr>
            <a:spLocks noGrp="1"/>
          </p:cNvSpPr>
          <p:nvPr/>
        </p:nvSpPr>
        <p:spPr>
          <a:xfrm>
            <a:off x="8046720" y="5038344"/>
            <a:ext cx="3474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05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Agriculture, geography,</a:t>
            </a:r>
            <a:endParaRPr sz="1100"/>
          </a:p>
          <a:p>
            <a:pPr marL="0" indent="0">
              <a:lnSpc>
                <a:spcPct val="105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weather and vegetation</a:t>
            </a:r>
            <a:endParaRPr sz="110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CA484EA-947A-41E0-8D2D-37E0636B40F6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PMFBY Claim Triage Intelligence — Consulting Presentation</a:t>
            </a:r>
            <a:endParaRPr sz="90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74C142AD-A25A-4235-A9A6-0ADDD0252CC2}"/>
              </a:ext>
            </a:extLst>
          </p:cNvPr>
          <p:cNvSpPr>
            <a:spLocks noGrp="1"/>
          </p:cNvSpPr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22495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D057A52-3D5C-4A29-A154-33D3CFC01296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 spc="200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EXECUTIVE STORYTELLING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AF9D9A-622E-4A39-812F-33D663D04735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Why We Changed the Objective</a:t>
            </a:r>
            <a:endParaRPr sz="3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D2ED72A-C332-460B-946E-546E63B7E414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5074920" cy="2880360"/>
          </a:xfrm>
          <a:prstGeom prst="roundRect">
            <a:avLst>
              <a:gd name="adj" fmla="val 1905"/>
            </a:avLst>
          </a:prstGeom>
          <a:solidFill>
            <a:srgbClr val="F5F0EC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E9E02A-CB67-4EBA-9322-EDB51EB68EF3}"/>
              </a:ext>
            </a:extLst>
          </p:cNvPr>
          <p:cNvSpPr>
            <a:spLocks noGrp="1"/>
          </p:cNvSpPr>
          <p:nvPr/>
        </p:nvSpPr>
        <p:spPr>
          <a:xfrm>
            <a:off x="777240" y="1874520"/>
            <a:ext cx="46177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 spc="100">
                <a:solidFill>
                  <a:srgbClr val="A23B2E"/>
                </a:solidFill>
                <a:latin typeface="Calibri"/>
                <a:ea typeface="Calibri"/>
                <a:cs typeface="Calibri"/>
              </a:rPr>
              <a:t>ORIGINAL DESIGN</a:t>
            </a:r>
            <a:endParaRPr sz="1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8E117C-2647-4C92-9FE0-4A0C52B4DE68}"/>
              </a:ext>
            </a:extLst>
          </p:cNvPr>
          <p:cNvSpPr>
            <a:spLocks noGrp="1"/>
          </p:cNvSpPr>
          <p:nvPr/>
        </p:nvSpPr>
        <p:spPr>
          <a:xfrm>
            <a:off x="777240" y="2258568"/>
            <a:ext cx="461772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 claim receives an automated approve, reject or manual-review recommendation.</a:t>
            </a:r>
            <a:endParaRPr sz="1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867238-56B6-4AB8-AD07-62B08BBFB2F3}"/>
              </a:ext>
            </a:extLst>
          </p:cNvPr>
          <p:cNvSpPr>
            <a:spLocks noGrp="1"/>
          </p:cNvSpPr>
          <p:nvPr/>
        </p:nvSpPr>
        <p:spPr>
          <a:xfrm>
            <a:off x="777240" y="3200400"/>
            <a:ext cx="461772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lang="en-IN" sz="1800" i="0" dirty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Weighted F1: 0.90</a:t>
            </a:r>
            <a:endParaRPr lang="en-IN" sz="1250" dirty="0"/>
          </a:p>
          <a:p>
            <a:pPr marL="0" indent="0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Shared label-construction signals inflated the interpretation of performance.</a:t>
            </a:r>
            <a:endParaRPr sz="12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43E4B9B-0DDE-4CC1-8497-BFBE965769BD}"/>
              </a:ext>
            </a:extLst>
          </p:cNvPr>
          <p:cNvSpPr>
            <a:spLocks noGrp="1"/>
          </p:cNvSpPr>
          <p:nvPr/>
        </p:nvSpPr>
        <p:spPr>
          <a:xfrm>
            <a:off x="6537960" y="1691640"/>
            <a:ext cx="5074920" cy="2880360"/>
          </a:xfrm>
          <a:prstGeom prst="roundRect">
            <a:avLst>
              <a:gd name="adj" fmla="val 1905"/>
            </a:avLst>
          </a:prstGeom>
          <a:solidFill>
            <a:srgbClr val="EAF0EC"/>
          </a:solidFill>
          <a:ln w="12700">
            <a:solidFill>
              <a:srgbClr val="1E443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0E3A81E-8874-4270-9382-A3CE6B6E36AE}"/>
              </a:ext>
            </a:extLst>
          </p:cNvPr>
          <p:cNvSpPr>
            <a:spLocks noGrp="1"/>
          </p:cNvSpPr>
          <p:nvPr/>
        </p:nvSpPr>
        <p:spPr>
          <a:xfrm>
            <a:off x="6766560" y="1874520"/>
            <a:ext cx="46177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 spc="10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FINAL DESIGN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98C9CA6-65AE-4739-942F-2F3335D9B49E}"/>
              </a:ext>
            </a:extLst>
          </p:cNvPr>
          <p:cNvSpPr>
            <a:spLocks noGrp="1"/>
          </p:cNvSpPr>
          <p:nvPr/>
        </p:nvSpPr>
        <p:spPr>
          <a:xfrm>
            <a:off x="6766560" y="2258568"/>
            <a:ext cx="461772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Rank cases for human assessment at a fixed review capacity.</a:t>
            </a:r>
            <a:endParaRPr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87F3FA5-F6FC-4E09-9BFA-53059B40D388}"/>
              </a:ext>
            </a:extLst>
          </p:cNvPr>
          <p:cNvSpPr>
            <a:spLocks noGrp="1"/>
          </p:cNvSpPr>
          <p:nvPr/>
        </p:nvSpPr>
        <p:spPr>
          <a:xfrm>
            <a:off x="6766560" y="3200400"/>
            <a:ext cx="461772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Bring evidence of loss forward. All cases remain in the human-review workflow.</a:t>
            </a:r>
            <a:endParaRPr sz="12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57534A1-768F-437F-9678-136E2E57675E}"/>
              </a:ext>
            </a:extLst>
          </p:cNvPr>
          <p:cNvSpPr>
            <a:spLocks noGrp="1"/>
          </p:cNvSpPr>
          <p:nvPr/>
        </p:nvSpPr>
        <p:spPr>
          <a:xfrm>
            <a:off x="5623560" y="2875788"/>
            <a:ext cx="914400" cy="512064"/>
          </a:xfrm>
          <a:prstGeom prst="rightArrow">
            <a:avLst/>
          </a:prstGeom>
          <a:solidFill>
            <a:srgbClr val="C89B3C"/>
          </a:solidFill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1807F23-F5E1-4AA0-8107-E0929B56E5F7}"/>
              </a:ext>
            </a:extLst>
          </p:cNvPr>
          <p:cNvSpPr>
            <a:spLocks noGrp="1"/>
          </p:cNvSpPr>
          <p:nvPr/>
        </p:nvSpPr>
        <p:spPr>
          <a:xfrm>
            <a:off x="548640" y="4846320"/>
            <a:ext cx="566928" cy="566928"/>
          </a:xfrm>
          <a:prstGeom prst="ellipse">
            <a:avLst/>
          </a:prstGeom>
          <a:solidFill>
            <a:srgbClr val="1C2B4A"/>
          </a:solidFill>
        </p:spPr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4920021"/>
            <a:ext cx="419527" cy="419527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40349C24-B51E-40EB-A1DD-244BA1ABB92C}"/>
              </a:ext>
            </a:extLst>
          </p:cNvPr>
          <p:cNvSpPr>
            <a:spLocks noGrp="1"/>
          </p:cNvSpPr>
          <p:nvPr/>
        </p:nvSpPr>
        <p:spPr>
          <a:xfrm>
            <a:off x="1261872" y="4828032"/>
            <a:ext cx="4572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C2B4A"/>
                </a:solidFill>
                <a:latin typeface="Calibri"/>
                <a:ea typeface="Calibri"/>
                <a:cs typeface="Calibri"/>
              </a:rPr>
              <a:t>Technical reason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DBC7C60-107E-443C-B47C-8D660CFE6FF5}"/>
              </a:ext>
            </a:extLst>
          </p:cNvPr>
          <p:cNvSpPr>
            <a:spLocks noGrp="1"/>
          </p:cNvSpPr>
          <p:nvPr/>
        </p:nvSpPr>
        <p:spPr>
          <a:xfrm>
            <a:off x="1261872" y="5138928"/>
            <a:ext cx="47548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model could recover the simulator’s construction rule.</a:t>
            </a:r>
            <a:endParaRPr sz="11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4CB0C6D-4C3A-45C8-A519-096806073D28}"/>
              </a:ext>
            </a:extLst>
          </p:cNvPr>
          <p:cNvSpPr>
            <a:spLocks noGrp="1"/>
          </p:cNvSpPr>
          <p:nvPr/>
        </p:nvSpPr>
        <p:spPr>
          <a:xfrm>
            <a:off x="6309360" y="4846320"/>
            <a:ext cx="566928" cy="566928"/>
          </a:xfrm>
          <a:prstGeom prst="ellipse">
            <a:avLst/>
          </a:prstGeom>
          <a:solidFill>
            <a:srgbClr val="1C2B4A"/>
          </a:solidFill>
        </p:spPr>
      </p:sp>
      <p:pic>
        <p:nvPicPr>
          <p:cNvPr id="4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061" y="4920021"/>
            <a:ext cx="419527" cy="419527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B97FF493-354D-4712-AFD3-AD4CA90C43D3}"/>
              </a:ext>
            </a:extLst>
          </p:cNvPr>
          <p:cNvSpPr>
            <a:spLocks noGrp="1"/>
          </p:cNvSpPr>
          <p:nvPr/>
        </p:nvSpPr>
        <p:spPr>
          <a:xfrm>
            <a:off x="7022592" y="4828032"/>
            <a:ext cx="4572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C2B4A"/>
                </a:solidFill>
                <a:latin typeface="Calibri"/>
                <a:ea typeface="Calibri"/>
                <a:cs typeface="Calibri"/>
              </a:rPr>
              <a:t>Ethical reason</a:t>
            </a:r>
            <a:endParaRPr sz="135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17DF0988-143D-4FA2-B649-184692E9036B}"/>
              </a:ext>
            </a:extLst>
          </p:cNvPr>
          <p:cNvSpPr>
            <a:spLocks noGrp="1"/>
          </p:cNvSpPr>
          <p:nvPr/>
        </p:nvSpPr>
        <p:spPr>
          <a:xfrm>
            <a:off x="7019925" y="5143500"/>
            <a:ext cx="4667250" cy="10477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 verified outcomes, appeal process or live error-feedback loop. Reliability varies by district.</a:t>
            </a:r>
            <a:endParaRPr sz="11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0C165F07-8EEF-4ED2-A26F-176C26B0ECD4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PMFBY Claim Triage Intelligence — Consulting Presentation</a:t>
            </a:r>
            <a:endParaRPr sz="90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C7975BE-7A60-4D05-9C26-6441DE4490C8}"/>
              </a:ext>
            </a:extLst>
          </p:cNvPr>
          <p:cNvSpPr>
            <a:spLocks noGrp="1"/>
          </p:cNvSpPr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9445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4A82FC-AACB-475A-A667-7C19D0038465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 spc="200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DATASET OVERVIEW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42E080-53D9-4072-840F-98D6611F8357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Evidence Base: The 5 Vs</a:t>
            </a:r>
            <a:endParaRPr sz="3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101CC8-D567-4DA0-8938-A818CA6750F6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2139696" cy="3143250"/>
          </a:xfrm>
          <a:prstGeom prst="roundRect">
            <a:avLst>
              <a:gd name="adj" fmla="val 2991"/>
            </a:avLst>
          </a:prstGeom>
          <a:solidFill>
            <a:srgbClr val="EAF0EC"/>
          </a:solidFill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0BD6EBB-00E8-42C2-9E62-956C21CA1BDD}"/>
              </a:ext>
            </a:extLst>
          </p:cNvPr>
          <p:cNvSpPr>
            <a:spLocks noGrp="1"/>
          </p:cNvSpPr>
          <p:nvPr/>
        </p:nvSpPr>
        <p:spPr>
          <a:xfrm>
            <a:off x="1252728" y="2395728"/>
            <a:ext cx="731520" cy="731520"/>
          </a:xfrm>
          <a:prstGeom prst="ellipse">
            <a:avLst/>
          </a:prstGeom>
          <a:solidFill>
            <a:srgbClr val="1E4438"/>
          </a:solidFill>
        </p:spPr>
      </p:sp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826" y="2490826"/>
            <a:ext cx="541325" cy="541325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18043BE7-1BDE-4D70-9A8D-D1E9AE54ABC0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2139696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 spc="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VOLUME</a:t>
            </a:r>
            <a:endParaRPr sz="135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592B066-9431-4496-A281-C13F0205F6CB}"/>
              </a:ext>
            </a:extLst>
          </p:cNvPr>
          <p:cNvSpPr>
            <a:spLocks noGrp="1"/>
          </p:cNvSpPr>
          <p:nvPr/>
        </p:nvSpPr>
        <p:spPr>
          <a:xfrm>
            <a:off x="685800" y="3675888"/>
            <a:ext cx="186537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2M synthetic cases</a:t>
            </a:r>
            <a:endParaRPr sz="1100" dirty="0"/>
          </a:p>
          <a:p>
            <a:pPr marL="0" indent="0" algn="ctr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from 4,497 contexts</a:t>
            </a:r>
            <a:endParaRPr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BAED8A3-7AF8-4F4E-9567-BFFAF4D78CBF}"/>
              </a:ext>
            </a:extLst>
          </p:cNvPr>
          <p:cNvSpPr>
            <a:spLocks noGrp="1"/>
          </p:cNvSpPr>
          <p:nvPr/>
        </p:nvSpPr>
        <p:spPr>
          <a:xfrm>
            <a:off x="2816352" y="2103120"/>
            <a:ext cx="2139696" cy="3143250"/>
          </a:xfrm>
          <a:prstGeom prst="roundRect">
            <a:avLst>
              <a:gd name="adj" fmla="val 2991"/>
            </a:avLst>
          </a:prstGeom>
          <a:solidFill>
            <a:srgbClr val="F7F0DE"/>
          </a:solidFill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6382312-58B8-4285-B65C-E694B1AAADD1}"/>
              </a:ext>
            </a:extLst>
          </p:cNvPr>
          <p:cNvSpPr>
            <a:spLocks noGrp="1"/>
          </p:cNvSpPr>
          <p:nvPr/>
        </p:nvSpPr>
        <p:spPr>
          <a:xfrm>
            <a:off x="3520440" y="2395728"/>
            <a:ext cx="731520" cy="731520"/>
          </a:xfrm>
          <a:prstGeom prst="ellipse">
            <a:avLst/>
          </a:prstGeom>
          <a:solidFill>
            <a:srgbClr val="C89B3C"/>
          </a:solidFill>
        </p:spPr>
      </p:sp>
      <p:pic>
        <p:nvPicPr>
          <p:cNvPr id="4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538" y="2490826"/>
            <a:ext cx="541325" cy="541325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F2B05E1D-0BF1-4BB7-94C4-C1F18276E6AA}"/>
              </a:ext>
            </a:extLst>
          </p:cNvPr>
          <p:cNvSpPr>
            <a:spLocks noGrp="1"/>
          </p:cNvSpPr>
          <p:nvPr/>
        </p:nvSpPr>
        <p:spPr>
          <a:xfrm>
            <a:off x="2816352" y="3291840"/>
            <a:ext cx="2139696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 spc="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VELOCITY</a:t>
            </a:r>
            <a:endParaRPr sz="135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81146C3-0FA1-4531-B965-A329FC7207F4}"/>
              </a:ext>
            </a:extLst>
          </p:cNvPr>
          <p:cNvSpPr>
            <a:spLocks noGrp="1"/>
          </p:cNvSpPr>
          <p:nvPr/>
        </p:nvSpPr>
        <p:spPr>
          <a:xfrm>
            <a:off x="2953512" y="3675888"/>
            <a:ext cx="186537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Seasonal / annual</a:t>
            </a:r>
            <a:endParaRPr sz="1100" dirty="0"/>
          </a:p>
          <a:p>
            <a:pPr marL="0" indent="0" algn="ctr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batch processing</a:t>
            </a:r>
            <a:endParaRPr sz="11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82A8E081-5B1C-4C7A-A48D-CACB4CC1678E}"/>
              </a:ext>
            </a:extLst>
          </p:cNvPr>
          <p:cNvSpPr>
            <a:spLocks noGrp="1"/>
          </p:cNvSpPr>
          <p:nvPr/>
        </p:nvSpPr>
        <p:spPr>
          <a:xfrm>
            <a:off x="5084064" y="2103120"/>
            <a:ext cx="2139696" cy="3143250"/>
          </a:xfrm>
          <a:prstGeom prst="roundRect">
            <a:avLst>
              <a:gd name="adj" fmla="val 2991"/>
            </a:avLst>
          </a:prstGeom>
          <a:solidFill>
            <a:srgbClr val="EAF0EC"/>
          </a:solidFill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8947D79-F4B2-41E8-BDA4-7B5E840D5DE6}"/>
              </a:ext>
            </a:extLst>
          </p:cNvPr>
          <p:cNvSpPr>
            <a:spLocks noGrp="1"/>
          </p:cNvSpPr>
          <p:nvPr/>
        </p:nvSpPr>
        <p:spPr>
          <a:xfrm>
            <a:off x="5788152" y="2395728"/>
            <a:ext cx="731520" cy="731520"/>
          </a:xfrm>
          <a:prstGeom prst="ellipse">
            <a:avLst/>
          </a:prstGeom>
          <a:solidFill>
            <a:srgbClr val="1E4438"/>
          </a:solidFill>
        </p:spPr>
      </p:sp>
      <p:pic>
        <p:nvPicPr>
          <p:cNvPr id="5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250" y="2490826"/>
            <a:ext cx="541325" cy="541325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220FFB8F-5261-41E4-ABEB-6F211FA42312}"/>
              </a:ext>
            </a:extLst>
          </p:cNvPr>
          <p:cNvSpPr>
            <a:spLocks noGrp="1"/>
          </p:cNvSpPr>
          <p:nvPr/>
        </p:nvSpPr>
        <p:spPr>
          <a:xfrm>
            <a:off x="5084064" y="3291840"/>
            <a:ext cx="2139696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 spc="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VARIETY</a:t>
            </a:r>
            <a:endParaRPr sz="135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28C2B75-082A-4F19-83CD-A6768BEAEF3A}"/>
              </a:ext>
            </a:extLst>
          </p:cNvPr>
          <p:cNvSpPr>
            <a:spLocks noGrp="1"/>
          </p:cNvSpPr>
          <p:nvPr/>
        </p:nvSpPr>
        <p:spPr>
          <a:xfrm>
            <a:off x="5221224" y="3675888"/>
            <a:ext cx="186537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Agriculture, geography,</a:t>
            </a:r>
            <a:endParaRPr sz="1100" dirty="0"/>
          </a:p>
          <a:p>
            <a:pPr marL="0" indent="0" algn="ctr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weather, vegetation</a:t>
            </a:r>
            <a:endParaRPr sz="11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56B51D0-9C81-490E-BDF3-1AA5B02171EC}"/>
              </a:ext>
            </a:extLst>
          </p:cNvPr>
          <p:cNvSpPr>
            <a:spLocks noGrp="1"/>
          </p:cNvSpPr>
          <p:nvPr/>
        </p:nvSpPr>
        <p:spPr>
          <a:xfrm>
            <a:off x="7351776" y="2103120"/>
            <a:ext cx="2139696" cy="3143250"/>
          </a:xfrm>
          <a:prstGeom prst="roundRect">
            <a:avLst>
              <a:gd name="adj" fmla="val 2991"/>
            </a:avLst>
          </a:prstGeom>
          <a:solidFill>
            <a:srgbClr val="F7F0DE"/>
          </a:solidFill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A9D68325-15A8-47F8-BA11-9B8C8EDBA13E}"/>
              </a:ext>
            </a:extLst>
          </p:cNvPr>
          <p:cNvSpPr>
            <a:spLocks noGrp="1"/>
          </p:cNvSpPr>
          <p:nvPr/>
        </p:nvSpPr>
        <p:spPr>
          <a:xfrm>
            <a:off x="8055864" y="2395728"/>
            <a:ext cx="731520" cy="731520"/>
          </a:xfrm>
          <a:prstGeom prst="ellipse">
            <a:avLst/>
          </a:prstGeom>
          <a:solidFill>
            <a:srgbClr val="C89B3C"/>
          </a:solidFill>
        </p:spPr>
      </p:sp>
      <p:pic>
        <p:nvPicPr>
          <p:cNvPr id="5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0962" y="2490826"/>
            <a:ext cx="541325" cy="541325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297C928E-E9B7-4A92-A7B2-1C1791ABC009}"/>
              </a:ext>
            </a:extLst>
          </p:cNvPr>
          <p:cNvSpPr>
            <a:spLocks noGrp="1"/>
          </p:cNvSpPr>
          <p:nvPr/>
        </p:nvSpPr>
        <p:spPr>
          <a:xfrm>
            <a:off x="7351776" y="3291840"/>
            <a:ext cx="2139696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 spc="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VERACITY</a:t>
            </a:r>
            <a:endParaRPr sz="135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F8135B4-0702-41A6-A434-570D8A44C567}"/>
              </a:ext>
            </a:extLst>
          </p:cNvPr>
          <p:cNvSpPr>
            <a:spLocks noGrp="1"/>
          </p:cNvSpPr>
          <p:nvPr/>
        </p:nvSpPr>
        <p:spPr>
          <a:xfrm>
            <a:off x="7488936" y="3675888"/>
            <a:ext cx="186537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Missingness flags,</a:t>
            </a:r>
            <a:endParaRPr sz="1100" dirty="0"/>
          </a:p>
          <a:p>
            <a:pPr marL="0" indent="0" algn="ctr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coverage and lineage</a:t>
            </a:r>
            <a:endParaRPr sz="11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052AE43-30CA-433B-848F-39D3304563C6}"/>
              </a:ext>
            </a:extLst>
          </p:cNvPr>
          <p:cNvSpPr>
            <a:spLocks noGrp="1"/>
          </p:cNvSpPr>
          <p:nvPr/>
        </p:nvSpPr>
        <p:spPr>
          <a:xfrm>
            <a:off x="9619488" y="2103120"/>
            <a:ext cx="2139696" cy="3143250"/>
          </a:xfrm>
          <a:prstGeom prst="roundRect">
            <a:avLst>
              <a:gd name="adj" fmla="val 2991"/>
            </a:avLst>
          </a:prstGeom>
          <a:solidFill>
            <a:srgbClr val="EAF0EC"/>
          </a:solidFill>
        </p:spPr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F459E687-5E01-42D5-B280-60740A5A2EF9}"/>
              </a:ext>
            </a:extLst>
          </p:cNvPr>
          <p:cNvSpPr>
            <a:spLocks noGrp="1"/>
          </p:cNvSpPr>
          <p:nvPr/>
        </p:nvSpPr>
        <p:spPr>
          <a:xfrm>
            <a:off x="10323576" y="2395728"/>
            <a:ext cx="731520" cy="731520"/>
          </a:xfrm>
          <a:prstGeom prst="ellipse">
            <a:avLst/>
          </a:prstGeom>
          <a:solidFill>
            <a:srgbClr val="1E4438"/>
          </a:solidFill>
        </p:spPr>
      </p:sp>
      <p:pic>
        <p:nvPicPr>
          <p:cNvPr id="62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8674" y="2490826"/>
            <a:ext cx="541325" cy="541325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D360B00C-0D09-4D15-AD6B-AAC9FF6A7CC7}"/>
              </a:ext>
            </a:extLst>
          </p:cNvPr>
          <p:cNvSpPr>
            <a:spLocks noGrp="1"/>
          </p:cNvSpPr>
          <p:nvPr/>
        </p:nvSpPr>
        <p:spPr>
          <a:xfrm>
            <a:off x="9619488" y="3291840"/>
            <a:ext cx="2139696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 spc="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VALUE</a:t>
            </a:r>
            <a:endParaRPr sz="135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9F66BEB7-F7BC-4FF8-A2AE-614FB9DBDE33}"/>
              </a:ext>
            </a:extLst>
          </p:cNvPr>
          <p:cNvSpPr>
            <a:spLocks noGrp="1"/>
          </p:cNvSpPr>
          <p:nvPr/>
        </p:nvSpPr>
        <p:spPr>
          <a:xfrm>
            <a:off x="9756648" y="3675888"/>
            <a:ext cx="186537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Compare review queues</a:t>
            </a:r>
            <a:endParaRPr sz="1100" dirty="0"/>
          </a:p>
          <a:p>
            <a:pPr marL="0" indent="0" algn="ctr">
              <a:lnSpc>
                <a:spcPct val="120000"/>
              </a:lnSpc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at equal capacity</a:t>
            </a:r>
            <a:endParaRPr sz="11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6D81C314-13F9-4738-B51D-4A3ACD35F81F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PMFBY Claim Triage Intelligence — Consulting Presentation</a:t>
            </a:r>
            <a:endParaRPr sz="90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95D27170-9D0C-4E7A-AAF7-8CA72A0F1AE9}"/>
              </a:ext>
            </a:extLst>
          </p:cNvPr>
          <p:cNvSpPr>
            <a:spLocks noGrp="1"/>
          </p:cNvSpPr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51C01B-C1D8-4288-BF90-CE428763CE31}"/>
              </a:ext>
            </a:extLst>
          </p:cNvPr>
          <p:cNvSpPr>
            <a:spLocks noGrp="1"/>
          </p:cNvSpPr>
          <p:nvPr/>
        </p:nvSpPr>
        <p:spPr>
          <a:xfrm>
            <a:off x="619125" y="5305425"/>
            <a:ext cx="10953750" cy="4000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 sz="1800">
                <a:solidFill>
                  <a:srgbClr val="20463B"/>
                </a:solidFill>
                <a:latin typeface="Calibri"/>
                <a:ea typeface="Calibri"/>
                <a:cs typeface="Calibri"/>
              </a:defRPr>
            </a:pPr>
            <a:r>
              <a:rPr sz="1800" dirty="0">
                <a:solidFill>
                  <a:srgbClr val="20463B"/>
                </a:solidFill>
                <a:latin typeface="Calibri"/>
                <a:ea typeface="Calibri"/>
                <a:cs typeface="Calibri"/>
              </a:rPr>
              <a:t>Both simulated losses and non-losses; no observed approval/rejection labels.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BB99B3-FAC8-497B-B6EC-9992BE315640}"/>
              </a:ext>
            </a:extLst>
          </p:cNvPr>
          <p:cNvSpPr>
            <a:spLocks noGrp="1"/>
          </p:cNvSpPr>
          <p:nvPr/>
        </p:nvSpPr>
        <p:spPr>
          <a:xfrm>
            <a:off x="619125" y="5800725"/>
            <a:ext cx="10953750" cy="4000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 sz="1650">
                <a:solidFill>
                  <a:srgbClr val="20463B"/>
                </a:solidFill>
                <a:latin typeface="Calibri"/>
                <a:ea typeface="Calibri"/>
                <a:cs typeface="Calibri"/>
              </a:defRPr>
            </a:pPr>
            <a:r>
              <a:rPr sz="1650" dirty="0">
                <a:solidFill>
                  <a:srgbClr val="20463B"/>
                </a:solidFill>
                <a:latin typeface="Calibri"/>
                <a:ea typeface="Calibri"/>
                <a:cs typeface="Calibri"/>
              </a:rPr>
              <a:t>Evidence tiers: 1,865 complete / 1,495 limited-history / 1,137 regional-fallback</a:t>
            </a:r>
          </a:p>
        </p:txBody>
      </p:sp>
    </p:spTree>
    <p:extLst>
      <p:ext uri="{BB962C8B-B14F-4D97-AF65-F5344CB8AC3E}">
        <p14:creationId xmlns:p14="http://schemas.microsoft.com/office/powerpoint/2010/main" val="1145336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591C85-18A3-42C4-AE90-14A7ABBB6015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 spc="200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SOLUTION ARCHITECTURE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A05F6F-4D60-4882-90E1-AF7EB7A9E9D6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End-to-End Big Data Pipeline</a:t>
            </a:r>
            <a:endParaRPr sz="3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55CCBDE-B57B-427C-891F-F19B436A22AB}"/>
              </a:ext>
            </a:extLst>
          </p:cNvPr>
          <p:cNvSpPr>
            <a:spLocks noGrp="1"/>
          </p:cNvSpPr>
          <p:nvPr/>
        </p:nvSpPr>
        <p:spPr>
          <a:xfrm>
            <a:off x="548640" y="2158672"/>
            <a:ext cx="1627632" cy="2076450"/>
          </a:xfrm>
          <a:prstGeom prst="roundRect">
            <a:avLst>
              <a:gd name="adj" fmla="val 4494"/>
            </a:avLst>
          </a:prstGeom>
          <a:solidFill>
            <a:srgbClr val="1E4438"/>
          </a:solidFill>
        </p:spPr>
      </p:sp>
      <p:pic>
        <p:nvPicPr>
          <p:cNvPr id="4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13432"/>
            <a:ext cx="621792" cy="62179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384E5A4-5AB6-47C0-83D9-180704D6BB0E}"/>
              </a:ext>
            </a:extLst>
          </p:cNvPr>
          <p:cNvSpPr>
            <a:spLocks noGrp="1"/>
          </p:cNvSpPr>
          <p:nvPr/>
        </p:nvSpPr>
        <p:spPr>
          <a:xfrm>
            <a:off x="603504" y="2990088"/>
            <a:ext cx="151790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</a:t>
            </a:r>
            <a:endParaRPr sz="1150"/>
          </a:p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</a:t>
            </a:r>
            <a:endParaRPr sz="115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05B4845-A26E-43A4-900A-60FC4D788131}"/>
              </a:ext>
            </a:extLst>
          </p:cNvPr>
          <p:cNvSpPr>
            <a:spLocks noGrp="1"/>
          </p:cNvSpPr>
          <p:nvPr/>
        </p:nvSpPr>
        <p:spPr>
          <a:xfrm>
            <a:off x="603504" y="3505200"/>
            <a:ext cx="1514475" cy="5524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 dirty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Agriculture</a:t>
            </a:r>
            <a:endParaRPr sz="850" dirty="0"/>
          </a:p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 dirty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Weather / NDVI</a:t>
            </a:r>
            <a:endParaRPr sz="8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2B22F0E-C816-4D35-90F9-79CD825CAAB1}"/>
              </a:ext>
            </a:extLst>
          </p:cNvPr>
          <p:cNvSpPr>
            <a:spLocks noGrp="1"/>
          </p:cNvSpPr>
          <p:nvPr/>
        </p:nvSpPr>
        <p:spPr>
          <a:xfrm>
            <a:off x="2224102" y="2930652"/>
            <a:ext cx="170064" cy="219456"/>
          </a:xfrm>
          <a:prstGeom prst="rightArrow">
            <a:avLst/>
          </a:prstGeom>
          <a:solidFill>
            <a:srgbClr val="C89B3C"/>
          </a:solidFill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6EDBA82-5E15-44DB-8C81-8B01F24820F3}"/>
              </a:ext>
            </a:extLst>
          </p:cNvPr>
          <p:cNvSpPr>
            <a:spLocks noGrp="1"/>
          </p:cNvSpPr>
          <p:nvPr/>
        </p:nvSpPr>
        <p:spPr>
          <a:xfrm>
            <a:off x="2442020" y="2148840"/>
            <a:ext cx="1627632" cy="2076450"/>
          </a:xfrm>
          <a:prstGeom prst="roundRect">
            <a:avLst>
              <a:gd name="adj" fmla="val 4494"/>
            </a:avLst>
          </a:prstGeom>
          <a:solidFill>
            <a:srgbClr val="1C2B4A"/>
          </a:solidFill>
        </p:spPr>
      </p:sp>
      <p:pic>
        <p:nvPicPr>
          <p:cNvPr id="5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917" y="2313432"/>
            <a:ext cx="621792" cy="621792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603BB8CD-24E0-41AF-A958-8AC4BE77B17F}"/>
              </a:ext>
            </a:extLst>
          </p:cNvPr>
          <p:cNvSpPr>
            <a:spLocks noGrp="1"/>
          </p:cNvSpPr>
          <p:nvPr/>
        </p:nvSpPr>
        <p:spPr>
          <a:xfrm>
            <a:off x="2496861" y="2990088"/>
            <a:ext cx="151790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PySpark on</a:t>
            </a:r>
            <a:endParaRPr sz="1150"/>
          </a:p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Databricks</a:t>
            </a:r>
            <a:endParaRPr sz="115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2559CCA-7AE6-4B78-ACB4-308E2E4FADA5}"/>
              </a:ext>
            </a:extLst>
          </p:cNvPr>
          <p:cNvSpPr>
            <a:spLocks noGrp="1"/>
          </p:cNvSpPr>
          <p:nvPr/>
        </p:nvSpPr>
        <p:spPr>
          <a:xfrm>
            <a:off x="2496864" y="3505200"/>
            <a:ext cx="1514475" cy="5524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 dirty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Join and</a:t>
            </a:r>
            <a:endParaRPr sz="850" dirty="0"/>
          </a:p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 dirty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aggregate</a:t>
            </a:r>
            <a:endParaRPr sz="8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5908757-DBA1-499E-B74C-A40F1DC9C80B}"/>
              </a:ext>
            </a:extLst>
          </p:cNvPr>
          <p:cNvSpPr>
            <a:spLocks noGrp="1"/>
          </p:cNvSpPr>
          <p:nvPr/>
        </p:nvSpPr>
        <p:spPr>
          <a:xfrm>
            <a:off x="4117459" y="2930652"/>
            <a:ext cx="170064" cy="219456"/>
          </a:xfrm>
          <a:prstGeom prst="rightArrow">
            <a:avLst/>
          </a:prstGeom>
          <a:solidFill>
            <a:srgbClr val="C89B3C"/>
          </a:solidFill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9C4C4F0-894E-42F8-8FFE-77D33C442C92}"/>
              </a:ext>
            </a:extLst>
          </p:cNvPr>
          <p:cNvSpPr>
            <a:spLocks noGrp="1"/>
          </p:cNvSpPr>
          <p:nvPr/>
        </p:nvSpPr>
        <p:spPr>
          <a:xfrm>
            <a:off x="4335399" y="2148840"/>
            <a:ext cx="1627632" cy="2076450"/>
          </a:xfrm>
          <a:prstGeom prst="roundRect">
            <a:avLst>
              <a:gd name="adj" fmla="val 4494"/>
            </a:avLst>
          </a:prstGeom>
          <a:solidFill>
            <a:srgbClr val="1E4438"/>
          </a:solidFill>
        </p:spPr>
      </p:sp>
      <p:pic>
        <p:nvPicPr>
          <p:cNvPr id="56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273" y="2313432"/>
            <a:ext cx="621792" cy="621792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C173F194-BFC6-4095-9661-BD98212787BF}"/>
              </a:ext>
            </a:extLst>
          </p:cNvPr>
          <p:cNvSpPr>
            <a:spLocks noGrp="1"/>
          </p:cNvSpPr>
          <p:nvPr/>
        </p:nvSpPr>
        <p:spPr>
          <a:xfrm>
            <a:off x="4390217" y="2990088"/>
            <a:ext cx="151790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Delta Gold</a:t>
            </a:r>
            <a:endParaRPr sz="1150"/>
          </a:p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master</a:t>
            </a:r>
            <a:endParaRPr sz="115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E005AD0F-FEDE-4616-8755-80D2E4C0367F}"/>
              </a:ext>
            </a:extLst>
          </p:cNvPr>
          <p:cNvSpPr>
            <a:spLocks noGrp="1"/>
          </p:cNvSpPr>
          <p:nvPr/>
        </p:nvSpPr>
        <p:spPr>
          <a:xfrm>
            <a:off x="4390225" y="3505200"/>
            <a:ext cx="1514475" cy="5524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4,497</a:t>
            </a:r>
            <a:endParaRPr sz="850"/>
          </a:p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contexts</a:t>
            </a:r>
            <a:endParaRPr sz="85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14F57F5-3D18-4632-8A7E-428D5E8401AB}"/>
              </a:ext>
            </a:extLst>
          </p:cNvPr>
          <p:cNvSpPr>
            <a:spLocks noGrp="1"/>
          </p:cNvSpPr>
          <p:nvPr/>
        </p:nvSpPr>
        <p:spPr>
          <a:xfrm>
            <a:off x="6010816" y="2930652"/>
            <a:ext cx="170064" cy="219456"/>
          </a:xfrm>
          <a:prstGeom prst="rightArrow">
            <a:avLst/>
          </a:prstGeom>
          <a:solidFill>
            <a:srgbClr val="C89B3C"/>
          </a:solidFill>
        </p:spPr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36F964F4-784B-46E2-B235-53BAC0CB1083}"/>
              </a:ext>
            </a:extLst>
          </p:cNvPr>
          <p:cNvSpPr>
            <a:spLocks noGrp="1"/>
          </p:cNvSpPr>
          <p:nvPr/>
        </p:nvSpPr>
        <p:spPr>
          <a:xfrm>
            <a:off x="6228683" y="2148840"/>
            <a:ext cx="1627632" cy="2076450"/>
          </a:xfrm>
          <a:prstGeom prst="roundRect">
            <a:avLst>
              <a:gd name="adj" fmla="val 4494"/>
            </a:avLst>
          </a:prstGeom>
          <a:solidFill>
            <a:srgbClr val="1C2B4A"/>
          </a:solidFill>
        </p:spPr>
      </p:sp>
      <p:pic>
        <p:nvPicPr>
          <p:cNvPr id="61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630" y="2313432"/>
            <a:ext cx="621792" cy="621792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E0013A0B-611E-4390-993C-3E8848335273}"/>
              </a:ext>
            </a:extLst>
          </p:cNvPr>
          <p:cNvSpPr>
            <a:spLocks noGrp="1"/>
          </p:cNvSpPr>
          <p:nvPr/>
        </p:nvSpPr>
        <p:spPr>
          <a:xfrm>
            <a:off x="6283574" y="2990088"/>
            <a:ext cx="151790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Synthetic</a:t>
            </a:r>
            <a:endParaRPr sz="1150"/>
          </a:p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scenarios</a:t>
            </a:r>
            <a:endParaRPr sz="115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61C98E8E-5BEE-43A7-80A8-EA17069F84FA}"/>
              </a:ext>
            </a:extLst>
          </p:cNvPr>
          <p:cNvSpPr>
            <a:spLocks noGrp="1"/>
          </p:cNvSpPr>
          <p:nvPr/>
        </p:nvSpPr>
        <p:spPr>
          <a:xfrm>
            <a:off x="6283585" y="3505200"/>
            <a:ext cx="1514475" cy="5524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 dirty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2M loss /</a:t>
            </a:r>
            <a:endParaRPr sz="850" dirty="0"/>
          </a:p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 dirty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non-loss cases</a:t>
            </a:r>
            <a:endParaRPr sz="85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70664546-438B-488D-9D43-102F2DA759E9}"/>
              </a:ext>
            </a:extLst>
          </p:cNvPr>
          <p:cNvSpPr>
            <a:spLocks noGrp="1"/>
          </p:cNvSpPr>
          <p:nvPr/>
        </p:nvSpPr>
        <p:spPr>
          <a:xfrm>
            <a:off x="7904172" y="2930652"/>
            <a:ext cx="170064" cy="219456"/>
          </a:xfrm>
          <a:prstGeom prst="rightArrow">
            <a:avLst/>
          </a:prstGeom>
          <a:solidFill>
            <a:srgbClr val="C89B3C"/>
          </a:solidFill>
        </p:spPr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63E16967-EC71-4905-97F9-F3C309C155DF}"/>
              </a:ext>
            </a:extLst>
          </p:cNvPr>
          <p:cNvSpPr>
            <a:spLocks noGrp="1"/>
          </p:cNvSpPr>
          <p:nvPr/>
        </p:nvSpPr>
        <p:spPr>
          <a:xfrm>
            <a:off x="8122063" y="2148840"/>
            <a:ext cx="1627632" cy="2076450"/>
          </a:xfrm>
          <a:prstGeom prst="roundRect">
            <a:avLst>
              <a:gd name="adj" fmla="val 4494"/>
            </a:avLst>
          </a:prstGeom>
          <a:solidFill>
            <a:srgbClr val="1E4438"/>
          </a:solidFill>
        </p:spPr>
      </p:sp>
      <p:pic>
        <p:nvPicPr>
          <p:cNvPr id="66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4987" y="2313432"/>
            <a:ext cx="621792" cy="621792"/>
          </a:xfrm>
          <a:prstGeom prst="rect">
            <a:avLst/>
          </a:prstGeom>
        </p:spPr>
      </p:pic>
      <p:sp>
        <p:nvSpPr>
          <p:cNvPr id="26" name="Text 19">
            <a:extLst>
              <a:ext uri="{FF2B5EF4-FFF2-40B4-BE49-F238E27FC236}">
                <a16:creationId xmlns:a16="http://schemas.microsoft.com/office/drawing/2014/main" id="{1FDAE289-44B4-434C-82BC-74CFA637C975}"/>
              </a:ext>
            </a:extLst>
          </p:cNvPr>
          <p:cNvSpPr>
            <a:spLocks noGrp="1"/>
          </p:cNvSpPr>
          <p:nvPr/>
        </p:nvSpPr>
        <p:spPr>
          <a:xfrm>
            <a:off x="8176931" y="2990088"/>
            <a:ext cx="151790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PySpark</a:t>
            </a:r>
            <a:endParaRPr sz="1150"/>
          </a:p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MLlib</a:t>
            </a:r>
            <a:endParaRPr sz="115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E83C98A8-13B7-472C-BDB8-2BAEEE40868C}"/>
              </a:ext>
            </a:extLst>
          </p:cNvPr>
          <p:cNvSpPr>
            <a:spLocks noGrp="1"/>
          </p:cNvSpPr>
          <p:nvPr/>
        </p:nvSpPr>
        <p:spPr>
          <a:xfrm>
            <a:off x="8176946" y="3505200"/>
            <a:ext cx="1514475" cy="5524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 dirty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Logistic /</a:t>
            </a:r>
            <a:endParaRPr sz="850" dirty="0"/>
          </a:p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 dirty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Random Forest</a:t>
            </a:r>
            <a:endParaRPr sz="85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8C2A81C8-9E02-408F-B84E-98E6BBBCD4D2}"/>
              </a:ext>
            </a:extLst>
          </p:cNvPr>
          <p:cNvSpPr>
            <a:spLocks noGrp="1"/>
          </p:cNvSpPr>
          <p:nvPr/>
        </p:nvSpPr>
        <p:spPr>
          <a:xfrm>
            <a:off x="9797529" y="2930652"/>
            <a:ext cx="170064" cy="219456"/>
          </a:xfrm>
          <a:prstGeom prst="rightArrow">
            <a:avLst/>
          </a:prstGeom>
          <a:solidFill>
            <a:srgbClr val="C89B3C"/>
          </a:solidFill>
        </p:spPr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04189771-D6AD-4FE8-8D07-F2CEBB8134A7}"/>
              </a:ext>
            </a:extLst>
          </p:cNvPr>
          <p:cNvSpPr>
            <a:spLocks noGrp="1"/>
          </p:cNvSpPr>
          <p:nvPr/>
        </p:nvSpPr>
        <p:spPr>
          <a:xfrm>
            <a:off x="10015442" y="2148840"/>
            <a:ext cx="1627632" cy="2076450"/>
          </a:xfrm>
          <a:prstGeom prst="roundRect">
            <a:avLst>
              <a:gd name="adj" fmla="val 4494"/>
            </a:avLst>
          </a:prstGeom>
          <a:solidFill>
            <a:srgbClr val="1C2B4A"/>
          </a:solidFill>
        </p:spPr>
      </p:sp>
      <p:pic>
        <p:nvPicPr>
          <p:cNvPr id="71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8343" y="2313432"/>
            <a:ext cx="621792" cy="621792"/>
          </a:xfrm>
          <a:prstGeom prst="rect">
            <a:avLst/>
          </a:prstGeom>
        </p:spPr>
      </p:pic>
      <p:sp>
        <p:nvSpPr>
          <p:cNvPr id="31" name="Text 23">
            <a:extLst>
              <a:ext uri="{FF2B5EF4-FFF2-40B4-BE49-F238E27FC236}">
                <a16:creationId xmlns:a16="http://schemas.microsoft.com/office/drawing/2014/main" id="{EBF637A3-90ED-41C3-96D5-BBFA7B7BBFA7}"/>
              </a:ext>
            </a:extLst>
          </p:cNvPr>
          <p:cNvSpPr>
            <a:spLocks noGrp="1"/>
          </p:cNvSpPr>
          <p:nvPr/>
        </p:nvSpPr>
        <p:spPr>
          <a:xfrm>
            <a:off x="10070287" y="2990088"/>
            <a:ext cx="151790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</a:t>
            </a:r>
            <a:endParaRPr sz="1150"/>
          </a:p>
          <a:p>
            <a:pPr marL="0" indent="0" algn="ctr">
              <a:lnSpc>
                <a:spcPct val="10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queues</a:t>
            </a:r>
            <a:endParaRPr sz="115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73B0ECED-F39D-46FC-B41E-45C5B7484C4F}"/>
              </a:ext>
            </a:extLst>
          </p:cNvPr>
          <p:cNvSpPr>
            <a:spLocks noGrp="1"/>
          </p:cNvSpPr>
          <p:nvPr/>
        </p:nvSpPr>
        <p:spPr>
          <a:xfrm>
            <a:off x="10070306" y="3505200"/>
            <a:ext cx="1514475" cy="5524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Equal review</a:t>
            </a:r>
            <a:endParaRPr sz="850"/>
          </a:p>
          <a:p>
            <a:pPr marL="0" indent="0" algn="ctr">
              <a:lnSpc>
                <a:spcPct val="105000"/>
              </a:lnSpc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>
                <a:solidFill>
                  <a:srgbClr val="D8E3DC"/>
                </a:solidFill>
                <a:latin typeface="Calibri"/>
                <a:ea typeface="Calibri"/>
                <a:cs typeface="Calibri"/>
              </a:rPr>
              <a:t>capacity</a:t>
            </a:r>
            <a:endParaRPr sz="85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FDFC3BD1-77A2-4576-8DA8-535E6E879790}"/>
              </a:ext>
            </a:extLst>
          </p:cNvPr>
          <p:cNvSpPr>
            <a:spLocks noGrp="1"/>
          </p:cNvSpPr>
          <p:nvPr/>
        </p:nvSpPr>
        <p:spPr>
          <a:xfrm>
            <a:off x="548640" y="4434840"/>
            <a:ext cx="11094415" cy="1417320"/>
          </a:xfrm>
          <a:prstGeom prst="roundRect">
            <a:avLst>
              <a:gd name="adj" fmla="val 3871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5703DC3B-CBF7-486B-A6FD-6BD29A22F4A1}"/>
              </a:ext>
            </a:extLst>
          </p:cNvPr>
          <p:cNvSpPr>
            <a:spLocks noGrp="1"/>
          </p:cNvSpPr>
          <p:nvPr/>
        </p:nvSpPr>
        <p:spPr>
          <a:xfrm>
            <a:off x="777240" y="4434840"/>
            <a:ext cx="10637215" cy="1417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5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b="1" i="0" dirty="0" err="1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PySpark</a:t>
            </a:r>
            <a:r>
              <a:rPr sz="1950" b="1" i="0" dirty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 handles joins, seasonal aggregation and model processing.</a:t>
            </a:r>
            <a:endParaRPr sz="1300" dirty="0"/>
          </a:p>
          <a:p>
            <a:pPr marL="0" indent="0">
              <a:lnSpc>
                <a:spcPct val="125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b="1" i="0" dirty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Delta tables preserve versioned datasets.</a:t>
            </a:r>
            <a:endParaRPr sz="1300" dirty="0"/>
          </a:p>
          <a:p>
            <a:pPr marL="0" indent="0">
              <a:lnSpc>
                <a:spcPct val="125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b="1" i="0" dirty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Repeatability requires saved inputs, code, configuration and seeds.</a:t>
            </a:r>
            <a:endParaRPr sz="13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38D8E683-0AA5-4116-A11D-A9081796A326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PMFBY Claim Triage Intelligence — Consulting Presentation</a:t>
            </a:r>
            <a:endParaRPr sz="90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71974FCD-5191-45DA-A4DD-69A50921F992}"/>
              </a:ext>
            </a:extLst>
          </p:cNvPr>
          <p:cNvSpPr>
            <a:spLocks noGrp="1"/>
          </p:cNvSpPr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3371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501598-7956-49F7-B330-7C040208D1A7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 spc="200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MODEL PERFORMANCE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A1D146-CCAB-49D3-A07E-D870F99E933D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3000" b="1" i="0"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Model discrimination and ranking granularity</a:t>
            </a:r>
            <a:endParaRPr sz="3000"/>
          </a:p>
        </p:txBody>
      </p:sp>
      <p:graphicFrame>
        <p:nvGraphicFramePr>
          <p:cNvPr id="26" name="Chart 0"/>
          <p:cNvGraphicFramePr/>
          <p:nvPr>
            <p:extLst>
              <p:ext uri="{D42A27DB-BD31-4B8C-83A1-F6EECF244321}">
                <p14:modId xmlns:p14="http://schemas.microsoft.com/office/powerpoint/2010/main" val="780602892"/>
              </p:ext>
            </p:extLst>
          </p:nvPr>
        </p:nvGraphicFramePr>
        <p:xfrm>
          <a:off x="548640" y="1627632"/>
          <a:ext cx="60350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7071CE25-8009-4767-A54D-7487A4C2CC1A}"/>
              </a:ext>
            </a:extLst>
          </p:cNvPr>
          <p:cNvSpPr>
            <a:spLocks noGrp="1"/>
          </p:cNvSpPr>
          <p:nvPr/>
        </p:nvSpPr>
        <p:spPr>
          <a:xfrm>
            <a:off x="542925" y="5029200"/>
            <a:ext cx="6096000" cy="1247775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0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RF AUC: 0.572</a:t>
            </a:r>
            <a:endParaRPr sz="1200"/>
          </a:p>
          <a:p>
            <a:pPr marL="0" indent="0">
              <a:lnSpc>
                <a:spcPct val="120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Expected-probability diagnostic: 0.594</a:t>
            </a:r>
            <a:endParaRPr sz="1200"/>
          </a:p>
          <a:p>
            <a:pPr marL="0" indent="0">
              <a:lnSpc>
                <a:spcPct val="120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Randomness limits discrimination in this simulation.</a:t>
            </a:r>
            <a:endParaRPr sz="1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B6AB4D3-7329-418F-B8D8-3EE5DA2F2DB7}"/>
              </a:ext>
            </a:extLst>
          </p:cNvPr>
          <p:cNvSpPr>
            <a:spLocks noGrp="1"/>
          </p:cNvSpPr>
          <p:nvPr/>
        </p:nvSpPr>
        <p:spPr>
          <a:xfrm>
            <a:off x="6903720" y="1627632"/>
            <a:ext cx="4754880" cy="2788920"/>
          </a:xfrm>
          <a:prstGeom prst="roundRect">
            <a:avLst>
              <a:gd name="adj" fmla="val 2295"/>
            </a:avLst>
          </a:prstGeom>
          <a:solidFill>
            <a:srgbClr val="E7EAF0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108C5EA-CD44-4F13-ADBD-E63EACDA624A}"/>
              </a:ext>
            </a:extLst>
          </p:cNvPr>
          <p:cNvSpPr>
            <a:spLocks noGrp="1"/>
          </p:cNvSpPr>
          <p:nvPr/>
        </p:nvSpPr>
        <p:spPr>
          <a:xfrm>
            <a:off x="7132320" y="1773936"/>
            <a:ext cx="4297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 spc="100">
                <a:solidFill>
                  <a:srgbClr val="1C2B4A"/>
                </a:solidFill>
                <a:latin typeface="Calibri"/>
                <a:ea typeface="Calibri"/>
                <a:cs typeface="Calibri"/>
              </a:rPr>
              <a:t>SAME CONTEXT, SAME SCORE</a:t>
            </a:r>
            <a:endParaRPr sz="11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6A0D58B-894B-410D-8835-2ECC4C83B2D6}"/>
              </a:ext>
            </a:extLst>
          </p:cNvPr>
          <p:cNvSpPr>
            <a:spLocks noGrp="1"/>
          </p:cNvSpPr>
          <p:nvPr/>
        </p:nvSpPr>
        <p:spPr>
          <a:xfrm>
            <a:off x="7132320" y="2084832"/>
            <a:ext cx="4297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Two synthetic scenarios sharing one context:</a:t>
            </a:r>
            <a:endParaRPr sz="11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CADEF11-9411-4AFC-B41A-53919C36570B}"/>
              </a:ext>
            </a:extLst>
          </p:cNvPr>
          <p:cNvSpPr>
            <a:spLocks noGrp="1"/>
          </p:cNvSpPr>
          <p:nvPr/>
        </p:nvSpPr>
        <p:spPr>
          <a:xfrm>
            <a:off x="7132320" y="2578608"/>
            <a:ext cx="4297680" cy="329184"/>
          </a:xfrm>
          <a:prstGeom prst="rect">
            <a:avLst/>
          </a:prstGeom>
          <a:solidFill>
            <a:srgbClr val="1C2B4A"/>
          </a:solidFill>
          <a:ln w="6350">
            <a:solidFill>
              <a:srgbClr val="D7DCE6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66E5316-EFA3-4852-9BE5-2E1030AC67BC}"/>
              </a:ext>
            </a:extLst>
          </p:cNvPr>
          <p:cNvSpPr>
            <a:spLocks noGrp="1"/>
          </p:cNvSpPr>
          <p:nvPr/>
        </p:nvSpPr>
        <p:spPr>
          <a:xfrm>
            <a:off x="7269480" y="2578608"/>
            <a:ext cx="257860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Claim ID</a:t>
            </a:r>
            <a:endParaRPr sz="11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693179F-DF26-4AB1-ABA2-DEF5909559F1}"/>
              </a:ext>
            </a:extLst>
          </p:cNvPr>
          <p:cNvSpPr>
            <a:spLocks noGrp="1"/>
          </p:cNvSpPr>
          <p:nvPr/>
        </p:nvSpPr>
        <p:spPr>
          <a:xfrm>
            <a:off x="9710928" y="2578608"/>
            <a:ext cx="158191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RF Score</a:t>
            </a:r>
            <a:endParaRPr sz="11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8CC2339-2009-475A-9DC5-4A51FED9131C}"/>
              </a:ext>
            </a:extLst>
          </p:cNvPr>
          <p:cNvSpPr>
            <a:spLocks noGrp="1"/>
          </p:cNvSpPr>
          <p:nvPr/>
        </p:nvSpPr>
        <p:spPr>
          <a:xfrm>
            <a:off x="7132320" y="2907792"/>
            <a:ext cx="4297680" cy="329184"/>
          </a:xfrm>
          <a:prstGeom prst="rect">
            <a:avLst/>
          </a:prstGeom>
          <a:solidFill>
            <a:srgbClr val="F2F4F8"/>
          </a:solidFill>
          <a:ln w="6350">
            <a:solidFill>
              <a:srgbClr val="D7DCE6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D0D78D2-1F13-435A-8B08-EC8807DE8742}"/>
              </a:ext>
            </a:extLst>
          </p:cNvPr>
          <p:cNvSpPr>
            <a:spLocks noGrp="1"/>
          </p:cNvSpPr>
          <p:nvPr/>
        </p:nvSpPr>
        <p:spPr>
          <a:xfrm>
            <a:off x="7269480" y="2907792"/>
            <a:ext cx="257860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0112b844…</a:t>
            </a:r>
            <a:endParaRPr sz="11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77DD88F-5139-4CAE-86C0-C218E932F6F6}"/>
              </a:ext>
            </a:extLst>
          </p:cNvPr>
          <p:cNvSpPr>
            <a:spLocks noGrp="1"/>
          </p:cNvSpPr>
          <p:nvPr/>
        </p:nvSpPr>
        <p:spPr>
          <a:xfrm>
            <a:off x="9710928" y="2907792"/>
            <a:ext cx="158191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0.4396</a:t>
            </a:r>
            <a:endParaRPr sz="11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7F94A23-7938-4ED8-BDB7-312A57E67128}"/>
              </a:ext>
            </a:extLst>
          </p:cNvPr>
          <p:cNvSpPr>
            <a:spLocks noGrp="1"/>
          </p:cNvSpPr>
          <p:nvPr/>
        </p:nvSpPr>
        <p:spPr>
          <a:xfrm>
            <a:off x="7132320" y="3236976"/>
            <a:ext cx="4297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22C04CC-8171-48D2-821F-A69550A5A2B7}"/>
              </a:ext>
            </a:extLst>
          </p:cNvPr>
          <p:cNvSpPr>
            <a:spLocks noGrp="1"/>
          </p:cNvSpPr>
          <p:nvPr/>
        </p:nvSpPr>
        <p:spPr>
          <a:xfrm>
            <a:off x="7269480" y="3236976"/>
            <a:ext cx="2578608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0215673a…</a:t>
            </a:r>
            <a:endParaRPr sz="11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837E329-8C96-4AA9-8800-8D106B6A5A50}"/>
              </a:ext>
            </a:extLst>
          </p:cNvPr>
          <p:cNvSpPr>
            <a:spLocks noGrp="1"/>
          </p:cNvSpPr>
          <p:nvPr/>
        </p:nvSpPr>
        <p:spPr>
          <a:xfrm>
            <a:off x="9710928" y="3236976"/>
            <a:ext cx="158191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0.4396</a:t>
            </a:r>
            <a:endParaRPr sz="11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0C64430-44DF-4894-950B-B9E402AB5953}"/>
              </a:ext>
            </a:extLst>
          </p:cNvPr>
          <p:cNvSpPr>
            <a:spLocks noGrp="1"/>
          </p:cNvSpPr>
          <p:nvPr/>
        </p:nvSpPr>
        <p:spPr>
          <a:xfrm>
            <a:off x="7124700" y="3667125"/>
            <a:ext cx="4295775" cy="8191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843 test contexts (2022). All three models give identical scores within each context.</a:t>
            </a:r>
            <a:endParaRPr sz="10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C170B2D-EFAD-414A-A28B-468301D8C58E}"/>
              </a:ext>
            </a:extLst>
          </p:cNvPr>
          <p:cNvSpPr>
            <a:spLocks noGrp="1"/>
          </p:cNvSpPr>
          <p:nvPr/>
        </p:nvSpPr>
        <p:spPr>
          <a:xfrm>
            <a:off x="6903720" y="4572000"/>
            <a:ext cx="4754880" cy="1554480"/>
          </a:xfrm>
          <a:prstGeom prst="roundRect">
            <a:avLst>
              <a:gd name="adj" fmla="val 4118"/>
            </a:avLst>
          </a:prstGeom>
          <a:solidFill>
            <a:srgbClr val="F7F0DE"/>
          </a:solidFill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59F049D-1F7A-4C14-A09D-980807B3599A}"/>
              </a:ext>
            </a:extLst>
          </p:cNvPr>
          <p:cNvSpPr>
            <a:spLocks noGrp="1"/>
          </p:cNvSpPr>
          <p:nvPr/>
        </p:nvSpPr>
        <p:spPr>
          <a:xfrm>
            <a:off x="7132320" y="4572000"/>
            <a:ext cx="4297680" cy="1554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A9791E"/>
                </a:solidFill>
                <a:latin typeface="Calibri"/>
                <a:ea typeface="Calibri"/>
                <a:cs typeface="Calibri"/>
              </a:rPr>
              <a:t>Selected classification thresholds labelled every test case positive.</a:t>
            </a:r>
            <a:endParaRPr sz="1150"/>
          </a:p>
          <a:p>
            <a:pPr marL="0" indent="0">
              <a:lnSpc>
                <a:spcPct val="120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A9791E"/>
                </a:solidFill>
                <a:latin typeface="Calibri"/>
                <a:ea typeface="Calibri"/>
                <a:cs typeface="Calibri"/>
              </a:rPr>
              <a:t>The policy comparison evaluates ranking at fixed capacity.</a:t>
            </a:r>
            <a:endParaRPr sz="115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B54DF85-E333-432B-A4AD-33E690410B6A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PMFBY Claim Triage Intelligence — Consulting Presentation</a:t>
            </a:r>
            <a:endParaRPr sz="9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6BD0A39-0BB5-4E34-A729-C5030AFE3464}"/>
              </a:ext>
            </a:extLst>
          </p:cNvPr>
          <p:cNvSpPr>
            <a:spLocks noGrp="1"/>
          </p:cNvSpPr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2645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19E64A-83D3-47E4-B88C-476239D5B029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 spc="200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KEY FINDINGS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5C9D2C-6176-4B3A-BE28-F2C238A029B2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3000" b="1" i="0"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Simulated recall: evidence helps; RF adds little</a:t>
            </a:r>
            <a:endParaRPr sz="3000"/>
          </a:p>
        </p:txBody>
      </p:sp>
      <p:graphicFrame>
        <p:nvGraphicFramePr>
          <p:cNvPr id="31" name="Chart 0"/>
          <p:cNvGraphicFramePr/>
          <p:nvPr/>
        </p:nvGraphicFramePr>
        <p:xfrm>
          <a:off x="548640" y="1554480"/>
          <a:ext cx="66751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35FE2D1C-7FE1-4165-86EA-6BAD01B2ADAF}"/>
              </a:ext>
            </a:extLst>
          </p:cNvPr>
          <p:cNvSpPr>
            <a:spLocks noGrp="1"/>
          </p:cNvSpPr>
          <p:nvPr/>
        </p:nvSpPr>
        <p:spPr>
          <a:xfrm>
            <a:off x="542925" y="4686300"/>
            <a:ext cx="6743700" cy="990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  <a:defRPr sz="2025" i="0"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At 20% capacity: random 19.94% recall</a:t>
            </a:r>
            <a:endParaRPr sz="1200"/>
          </a:p>
          <a:p>
            <a:pPr marL="0" indent="0">
              <a:lnSpc>
                <a:spcPct val="115000"/>
              </a:lnSpc>
              <a:buNone/>
              <a:defRPr sz="2025" i="0"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Rule 27.78% / full RF 27.97%</a:t>
            </a:r>
            <a:endParaRPr sz="1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C754C62-5818-4E35-99F0-63F9F08E6820}"/>
              </a:ext>
            </a:extLst>
          </p:cNvPr>
          <p:cNvSpPr>
            <a:spLocks noGrp="1"/>
          </p:cNvSpPr>
          <p:nvPr/>
        </p:nvSpPr>
        <p:spPr>
          <a:xfrm>
            <a:off x="7498080" y="1554480"/>
            <a:ext cx="4160520" cy="1783080"/>
          </a:xfrm>
          <a:prstGeom prst="roundRect">
            <a:avLst>
              <a:gd name="adj" fmla="val 3590"/>
            </a:avLst>
          </a:prstGeom>
          <a:solidFill>
            <a:srgbClr val="F7F0DE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57252CB-8CAF-48CC-B95F-18A26061496E}"/>
              </a:ext>
            </a:extLst>
          </p:cNvPr>
          <p:cNvSpPr>
            <a:spLocks noGrp="1"/>
          </p:cNvSpPr>
          <p:nvPr/>
        </p:nvSpPr>
        <p:spPr>
          <a:xfrm>
            <a:off x="7726680" y="1700784"/>
            <a:ext cx="3703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A9791E"/>
                </a:solidFill>
                <a:latin typeface="Calibri"/>
                <a:ea typeface="Calibri"/>
                <a:cs typeface="Calibri"/>
              </a:rPr>
              <a:t>RF minus rule</a:t>
            </a:r>
            <a:endParaRPr sz="125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BCA7DFB-5813-4EE2-B981-4843D540958B}"/>
              </a:ext>
            </a:extLst>
          </p:cNvPr>
          <p:cNvSpPr>
            <a:spLocks noGrp="1"/>
          </p:cNvSpPr>
          <p:nvPr/>
        </p:nvSpPr>
        <p:spPr>
          <a:xfrm>
            <a:off x="7724775" y="2076450"/>
            <a:ext cx="3705225" cy="619125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+0.19 percentage points</a:t>
            </a:r>
            <a:endParaRPr sz="2000"/>
          </a:p>
          <a:p>
            <a:pPr marL="0" indent="0">
              <a:lnSpc>
                <a:spcPct val="115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95% interval: −1.51 to +2.00 pp</a:t>
            </a:r>
            <a:endParaRPr sz="20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E2694FB-D536-48B3-9392-2596A3CC9D75}"/>
              </a:ext>
            </a:extLst>
          </p:cNvPr>
          <p:cNvSpPr>
            <a:spLocks noGrp="1"/>
          </p:cNvSpPr>
          <p:nvPr/>
        </p:nvSpPr>
        <p:spPr>
          <a:xfrm>
            <a:off x="7724775" y="2743200"/>
            <a:ext cx="3705225" cy="619125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Conditional bootstrap: no conclusive RF advantage.</a:t>
            </a:r>
            <a:endParaRPr sz="11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DFF575F-89A6-46DF-B355-AF7EF8BC97EF}"/>
              </a:ext>
            </a:extLst>
          </p:cNvPr>
          <p:cNvSpPr>
            <a:spLocks noGrp="1"/>
          </p:cNvSpPr>
          <p:nvPr/>
        </p:nvSpPr>
        <p:spPr>
          <a:xfrm>
            <a:off x="7498080" y="3474720"/>
            <a:ext cx="4160520" cy="2651760"/>
          </a:xfrm>
          <a:prstGeom prst="roundRect">
            <a:avLst>
              <a:gd name="adj" fmla="val 2414"/>
            </a:avLst>
          </a:prstGeom>
          <a:solidFill>
            <a:srgbClr val="E7EAF0"/>
          </a:solidFill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3361393-2880-4FE5-B065-4997D8592699}"/>
              </a:ext>
            </a:extLst>
          </p:cNvPr>
          <p:cNvSpPr>
            <a:spLocks noGrp="1"/>
          </p:cNvSpPr>
          <p:nvPr/>
        </p:nvSpPr>
        <p:spPr>
          <a:xfrm>
            <a:off x="7726680" y="3621024"/>
            <a:ext cx="3703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b="1" i="0" spc="50">
                <a:solidFill>
                  <a:srgbClr val="1C2B4A"/>
                </a:solidFill>
                <a:latin typeface="Calibri"/>
                <a:ea typeface="Calibri"/>
                <a:cs typeface="Calibri"/>
              </a:rPr>
              <a:t>RECALL WITHIN EVIDENCE TIER</a:t>
            </a:r>
            <a:endParaRPr sz="11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D58289F-A236-49C8-A80D-1F63DBC921D6}"/>
              </a:ext>
            </a:extLst>
          </p:cNvPr>
          <p:cNvSpPr>
            <a:spLocks noGrp="1"/>
          </p:cNvSpPr>
          <p:nvPr/>
        </p:nvSpPr>
        <p:spPr>
          <a:xfrm>
            <a:off x="7726680" y="3977640"/>
            <a:ext cx="3703320" cy="329184"/>
          </a:xfrm>
          <a:prstGeom prst="rect">
            <a:avLst/>
          </a:prstGeom>
          <a:solidFill>
            <a:srgbClr val="1C2B4A"/>
          </a:solidFill>
          <a:ln w="6350">
            <a:solidFill>
              <a:srgbClr val="D7DCE6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7C2B7B8-9DB4-450A-9687-72BF78DE20A5}"/>
              </a:ext>
            </a:extLst>
          </p:cNvPr>
          <p:cNvSpPr>
            <a:spLocks noGrp="1"/>
          </p:cNvSpPr>
          <p:nvPr/>
        </p:nvSpPr>
        <p:spPr>
          <a:xfrm>
            <a:off x="7818120" y="3977640"/>
            <a:ext cx="177759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575" i="0"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Tier</a:t>
            </a:r>
            <a:endParaRPr sz="10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CF29BF7-9EFD-49E9-842C-3986719B887A}"/>
              </a:ext>
            </a:extLst>
          </p:cNvPr>
          <p:cNvSpPr>
            <a:spLocks noGrp="1"/>
          </p:cNvSpPr>
          <p:nvPr/>
        </p:nvSpPr>
        <p:spPr>
          <a:xfrm>
            <a:off x="9504274" y="3977640"/>
            <a:ext cx="96286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  <a:defRPr sz="1575" i="0"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Rule</a:t>
            </a:r>
            <a:endParaRPr sz="10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606EA1E-B9CA-4F98-956C-81E38B8BF88C}"/>
              </a:ext>
            </a:extLst>
          </p:cNvPr>
          <p:cNvSpPr>
            <a:spLocks noGrp="1"/>
          </p:cNvSpPr>
          <p:nvPr/>
        </p:nvSpPr>
        <p:spPr>
          <a:xfrm>
            <a:off x="10467137" y="3977640"/>
            <a:ext cx="96286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  <a:defRPr sz="1575" i="0"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RF</a:t>
            </a:r>
            <a:endParaRPr sz="10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433B460-977F-4E4F-A40A-BE16E6CF9CF5}"/>
              </a:ext>
            </a:extLst>
          </p:cNvPr>
          <p:cNvSpPr>
            <a:spLocks noGrp="1"/>
          </p:cNvSpPr>
          <p:nvPr/>
        </p:nvSpPr>
        <p:spPr>
          <a:xfrm>
            <a:off x="7726680" y="4306824"/>
            <a:ext cx="3703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6C1383-4FFA-4596-AB1A-300635B20862}"/>
              </a:ext>
            </a:extLst>
          </p:cNvPr>
          <p:cNvSpPr>
            <a:spLocks noGrp="1"/>
          </p:cNvSpPr>
          <p:nvPr/>
        </p:nvSpPr>
        <p:spPr>
          <a:xfrm>
            <a:off x="7818120" y="4306824"/>
            <a:ext cx="177759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Complete</a:t>
            </a:r>
            <a:endParaRPr sz="10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434B363-1357-483A-9DE5-9C46ABA534FD}"/>
              </a:ext>
            </a:extLst>
          </p:cNvPr>
          <p:cNvSpPr>
            <a:spLocks noGrp="1"/>
          </p:cNvSpPr>
          <p:nvPr/>
        </p:nvSpPr>
        <p:spPr>
          <a:xfrm>
            <a:off x="9504274" y="4306824"/>
            <a:ext cx="96286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  <a:defRPr sz="1575" i="0">
                <a:latin typeface="Calibri"/>
                <a:ea typeface="Calibri"/>
                <a:cs typeface="Calibri"/>
              </a:defRPr>
            </a:pPr>
            <a:r>
              <a:rPr sz="1575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33.18%</a:t>
            </a:r>
            <a:endParaRPr sz="10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B352107-6D52-4795-9027-F842DEEAABD8}"/>
              </a:ext>
            </a:extLst>
          </p:cNvPr>
          <p:cNvSpPr>
            <a:spLocks noGrp="1"/>
          </p:cNvSpPr>
          <p:nvPr/>
        </p:nvSpPr>
        <p:spPr>
          <a:xfrm>
            <a:off x="10467137" y="4306824"/>
            <a:ext cx="96286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  <a:defRPr sz="1575" i="0"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34.51%</a:t>
            </a:r>
            <a:endParaRPr sz="10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CBA11F4-B4B8-48B0-91EB-8FAF99C4C3BA}"/>
              </a:ext>
            </a:extLst>
          </p:cNvPr>
          <p:cNvSpPr>
            <a:spLocks noGrp="1"/>
          </p:cNvSpPr>
          <p:nvPr/>
        </p:nvSpPr>
        <p:spPr>
          <a:xfrm>
            <a:off x="7726680" y="4636008"/>
            <a:ext cx="3703320" cy="329184"/>
          </a:xfrm>
          <a:prstGeom prst="rect">
            <a:avLst/>
          </a:prstGeom>
          <a:solidFill>
            <a:srgbClr val="F2F4F8"/>
          </a:solidFill>
          <a:ln w="6350">
            <a:solidFill>
              <a:srgbClr val="D7DCE6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55AB4AE-BB60-4B3C-9676-BD9F460DDDBA}"/>
              </a:ext>
            </a:extLst>
          </p:cNvPr>
          <p:cNvSpPr>
            <a:spLocks noGrp="1"/>
          </p:cNvSpPr>
          <p:nvPr/>
        </p:nvSpPr>
        <p:spPr>
          <a:xfrm>
            <a:off x="7818120" y="4636008"/>
            <a:ext cx="177759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Fallback</a:t>
            </a:r>
            <a:endParaRPr sz="10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E8FAB66-B29D-4619-926C-0499D5914467}"/>
              </a:ext>
            </a:extLst>
          </p:cNvPr>
          <p:cNvSpPr>
            <a:spLocks noGrp="1"/>
          </p:cNvSpPr>
          <p:nvPr/>
        </p:nvSpPr>
        <p:spPr>
          <a:xfrm>
            <a:off x="9504274" y="4636008"/>
            <a:ext cx="96286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  <a:defRPr sz="1575" i="0"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11.47%</a:t>
            </a:r>
            <a:endParaRPr sz="10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D82733C-5174-4BD5-872B-6B1D5369B824}"/>
              </a:ext>
            </a:extLst>
          </p:cNvPr>
          <p:cNvSpPr>
            <a:spLocks noGrp="1"/>
          </p:cNvSpPr>
          <p:nvPr/>
        </p:nvSpPr>
        <p:spPr>
          <a:xfrm>
            <a:off x="10467137" y="4636008"/>
            <a:ext cx="96286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  <a:defRPr sz="1575" i="0">
                <a:latin typeface="Calibri"/>
                <a:ea typeface="Calibri"/>
                <a:cs typeface="Calibri"/>
              </a:defRPr>
            </a:pPr>
            <a:r>
              <a:rPr sz="1575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8.23%</a:t>
            </a:r>
            <a:endParaRPr sz="105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AE5C7EA-1872-42BF-AD8A-BD597A86633C}"/>
              </a:ext>
            </a:extLst>
          </p:cNvPr>
          <p:cNvSpPr>
            <a:spLocks noGrp="1"/>
          </p:cNvSpPr>
          <p:nvPr/>
        </p:nvSpPr>
        <p:spPr>
          <a:xfrm>
            <a:off x="7724775" y="5048250"/>
            <a:ext cx="3705225" cy="990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In this run, RF gains in the complete tier and trails the rule in fallback.</a:t>
            </a:r>
            <a:endParaRPr sz="10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5FF3200-4578-49B7-8518-3DE56129BB1B}"/>
              </a:ext>
            </a:extLst>
          </p:cNvPr>
          <p:cNvSpPr>
            <a:spLocks noGrp="1"/>
          </p:cNvSpPr>
          <p:nvPr/>
        </p:nvSpPr>
        <p:spPr>
          <a:xfrm>
            <a:off x="542925" y="6019800"/>
            <a:ext cx="6724650" cy="4000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500" i="0">
                <a:latin typeface="Calibri"/>
                <a:ea typeface="Calibri"/>
                <a:cs typeface="Calibri"/>
              </a:defRPr>
            </a:pPr>
            <a:r>
              <a:rPr sz="150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Intended workflow: all cases remain subject to human review.</a:t>
            </a:r>
            <a:endParaRPr sz="105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CA37A38-C862-4006-953E-320E45E2DA5A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PMFBY Claim Triage Intelligence — Consulting Presentation</a:t>
            </a:r>
            <a:endParaRPr sz="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F3E6891-9211-443D-B071-B722232F3DCF}"/>
              </a:ext>
            </a:extLst>
          </p:cNvPr>
          <p:cNvSpPr>
            <a:spLocks noGrp="1"/>
          </p:cNvSpPr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90298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0B922D-079E-47F9-BF9C-359B0586C457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 spc="200" dirty="0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BUSINESS RECOMMENDATIONS</a:t>
            </a:r>
            <a:endParaRPr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BC5DDF-114D-462C-8CC3-1B9EACF99288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 dirty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What Management Should Do Next</a:t>
            </a:r>
            <a:endParaRPr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5675A61-B8A9-4965-9A4B-A62D22529208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2724912" cy="2209800"/>
          </a:xfrm>
          <a:prstGeom prst="roundRect">
            <a:avLst>
              <a:gd name="adj" fmla="val 2791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9F5BB8-84F1-4655-992C-2A6EB71E947E}"/>
              </a:ext>
            </a:extLst>
          </p:cNvPr>
          <p:cNvSpPr>
            <a:spLocks noGrp="1"/>
          </p:cNvSpPr>
          <p:nvPr/>
        </p:nvSpPr>
        <p:spPr>
          <a:xfrm>
            <a:off x="749808" y="1892808"/>
            <a:ext cx="566928" cy="566928"/>
          </a:xfrm>
          <a:prstGeom prst="ellipse">
            <a:avLst/>
          </a:prstGeom>
          <a:solidFill>
            <a:srgbClr val="1E4438"/>
          </a:solidFill>
        </p:spPr>
      </p:sp>
      <p:pic>
        <p:nvPicPr>
          <p:cNvPr id="5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09" y="1966509"/>
            <a:ext cx="419527" cy="419527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147CE84D-A6CE-47BB-92D0-963F19AC64B1}"/>
              </a:ext>
            </a:extLst>
          </p:cNvPr>
          <p:cNvSpPr>
            <a:spLocks noGrp="1"/>
          </p:cNvSpPr>
          <p:nvPr/>
        </p:nvSpPr>
        <p:spPr>
          <a:xfrm>
            <a:off x="713232" y="2587752"/>
            <a:ext cx="239572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05000"/>
              </a:lnSpc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Rule as baseline</a:t>
            </a:r>
            <a:endParaRPr sz="125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3D4626B-B32B-4F97-80EA-AB3CE1A48EA5}"/>
              </a:ext>
            </a:extLst>
          </p:cNvPr>
          <p:cNvSpPr>
            <a:spLocks noGrp="1"/>
          </p:cNvSpPr>
          <p:nvPr/>
        </p:nvSpPr>
        <p:spPr>
          <a:xfrm>
            <a:off x="713232" y="3086100"/>
            <a:ext cx="2395728" cy="7239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Start with a supervised shadow trial.</a:t>
            </a:r>
            <a:endParaRPr sz="105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17421DC-5E96-4B64-B2F7-C084AC5D1AB1}"/>
              </a:ext>
            </a:extLst>
          </p:cNvPr>
          <p:cNvSpPr>
            <a:spLocks noGrp="1"/>
          </p:cNvSpPr>
          <p:nvPr/>
        </p:nvSpPr>
        <p:spPr>
          <a:xfrm>
            <a:off x="3401568" y="1691640"/>
            <a:ext cx="2724912" cy="2209800"/>
          </a:xfrm>
          <a:prstGeom prst="roundRect">
            <a:avLst>
              <a:gd name="adj" fmla="val 2791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3036C99-4D93-4151-B46F-8DAEEB8C840A}"/>
              </a:ext>
            </a:extLst>
          </p:cNvPr>
          <p:cNvSpPr>
            <a:spLocks noGrp="1"/>
          </p:cNvSpPr>
          <p:nvPr/>
        </p:nvSpPr>
        <p:spPr>
          <a:xfrm>
            <a:off x="3602736" y="1892808"/>
            <a:ext cx="566928" cy="566928"/>
          </a:xfrm>
          <a:prstGeom prst="ellipse">
            <a:avLst/>
          </a:prstGeom>
          <a:solidFill>
            <a:srgbClr val="1E4438"/>
          </a:solidFill>
        </p:spPr>
      </p:sp>
      <p:pic>
        <p:nvPicPr>
          <p:cNvPr id="5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437" y="1966509"/>
            <a:ext cx="419527" cy="419527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1D0D0D3E-CA62-4AED-99C5-845703551321}"/>
              </a:ext>
            </a:extLst>
          </p:cNvPr>
          <p:cNvSpPr>
            <a:spLocks noGrp="1"/>
          </p:cNvSpPr>
          <p:nvPr/>
        </p:nvSpPr>
        <p:spPr>
          <a:xfrm>
            <a:off x="3566160" y="2587752"/>
            <a:ext cx="239572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05000"/>
              </a:lnSpc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Capacity scenario</a:t>
            </a:r>
            <a:endParaRPr sz="125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8E71FC7-E316-40F8-8837-C013455FC972}"/>
              </a:ext>
            </a:extLst>
          </p:cNvPr>
          <p:cNvSpPr>
            <a:spLocks noGrp="1"/>
          </p:cNvSpPr>
          <p:nvPr/>
        </p:nvSpPr>
        <p:spPr>
          <a:xfrm>
            <a:off x="3566160" y="3086100"/>
            <a:ext cx="2395728" cy="7239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20% was evaluated, not optimised.</a:t>
            </a:r>
            <a:endParaRPr sz="105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D63577F-C6DC-4992-A16B-AB2177A0E7F3}"/>
              </a:ext>
            </a:extLst>
          </p:cNvPr>
          <p:cNvSpPr>
            <a:spLocks noGrp="1"/>
          </p:cNvSpPr>
          <p:nvPr/>
        </p:nvSpPr>
        <p:spPr>
          <a:xfrm>
            <a:off x="6254496" y="1691640"/>
            <a:ext cx="2724912" cy="2209800"/>
          </a:xfrm>
          <a:prstGeom prst="roundRect">
            <a:avLst>
              <a:gd name="adj" fmla="val 2791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237A65E-9051-4058-AEBB-E417FD6CCB34}"/>
              </a:ext>
            </a:extLst>
          </p:cNvPr>
          <p:cNvSpPr>
            <a:spLocks noGrp="1"/>
          </p:cNvSpPr>
          <p:nvPr/>
        </p:nvSpPr>
        <p:spPr>
          <a:xfrm>
            <a:off x="6455664" y="1892808"/>
            <a:ext cx="566928" cy="566928"/>
          </a:xfrm>
          <a:prstGeom prst="ellipse">
            <a:avLst/>
          </a:prstGeom>
          <a:solidFill>
            <a:srgbClr val="1E4438"/>
          </a:solidFill>
        </p:spPr>
      </p:sp>
      <p:pic>
        <p:nvPicPr>
          <p:cNvPr id="6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9365" y="1966509"/>
            <a:ext cx="419527" cy="419527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3FCDB534-81A2-46D5-BFA6-B5C6A72DE649}"/>
              </a:ext>
            </a:extLst>
          </p:cNvPr>
          <p:cNvSpPr>
            <a:spLocks noGrp="1"/>
          </p:cNvSpPr>
          <p:nvPr/>
        </p:nvSpPr>
        <p:spPr>
          <a:xfrm>
            <a:off x="6419088" y="2587752"/>
            <a:ext cx="239572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05000"/>
              </a:lnSpc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Verified outcomes</a:t>
            </a:r>
            <a:endParaRPr sz="125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1DA84FB-F7F0-42C2-A259-CB130C4AF445}"/>
              </a:ext>
            </a:extLst>
          </p:cNvPr>
          <p:cNvSpPr>
            <a:spLocks noGrp="1"/>
          </p:cNvSpPr>
          <p:nvPr/>
        </p:nvSpPr>
        <p:spPr>
          <a:xfrm>
            <a:off x="6419088" y="3086100"/>
            <a:ext cx="2395728" cy="7239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Target CCE or verified yield shortfall.</a:t>
            </a:r>
            <a:endParaRPr sz="105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4C971A5D-B55D-4711-B6E3-EF7EE05EDF09}"/>
              </a:ext>
            </a:extLst>
          </p:cNvPr>
          <p:cNvSpPr>
            <a:spLocks noGrp="1"/>
          </p:cNvSpPr>
          <p:nvPr/>
        </p:nvSpPr>
        <p:spPr>
          <a:xfrm>
            <a:off x="9107424" y="1691640"/>
            <a:ext cx="2724912" cy="2209800"/>
          </a:xfrm>
          <a:prstGeom prst="roundRect">
            <a:avLst>
              <a:gd name="adj" fmla="val 2791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63C2D724-0B1C-4434-BC95-060619B97434}"/>
              </a:ext>
            </a:extLst>
          </p:cNvPr>
          <p:cNvSpPr>
            <a:spLocks noGrp="1"/>
          </p:cNvSpPr>
          <p:nvPr/>
        </p:nvSpPr>
        <p:spPr>
          <a:xfrm>
            <a:off x="9308592" y="1892808"/>
            <a:ext cx="566928" cy="566928"/>
          </a:xfrm>
          <a:prstGeom prst="ellipse">
            <a:avLst/>
          </a:prstGeom>
          <a:solidFill>
            <a:srgbClr val="1E4438"/>
          </a:solidFill>
        </p:spPr>
      </p:sp>
      <p:pic>
        <p:nvPicPr>
          <p:cNvPr id="66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2293" y="1966509"/>
            <a:ext cx="419527" cy="419527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2C2DBBF3-DE46-4867-A508-6BC5E519E01C}"/>
              </a:ext>
            </a:extLst>
          </p:cNvPr>
          <p:cNvSpPr>
            <a:spLocks noGrp="1"/>
          </p:cNvSpPr>
          <p:nvPr/>
        </p:nvSpPr>
        <p:spPr>
          <a:xfrm>
            <a:off x="9272016" y="2587752"/>
            <a:ext cx="239572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05000"/>
              </a:lnSpc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Test ML’s benefit</a:t>
            </a:r>
            <a:endParaRPr sz="125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0AB4EA8-296F-48AF-940B-BC05CEB24141}"/>
              </a:ext>
            </a:extLst>
          </p:cNvPr>
          <p:cNvSpPr>
            <a:spLocks noGrp="1"/>
          </p:cNvSpPr>
          <p:nvPr/>
        </p:nvSpPr>
        <p:spPr>
          <a:xfrm>
            <a:off x="9272016" y="3086100"/>
            <a:ext cx="2395728" cy="7239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Require repeatable operational gains.</a:t>
            </a:r>
            <a:endParaRPr sz="105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7A4057EA-2600-4603-9601-36C5DCC01A54}"/>
              </a:ext>
            </a:extLst>
          </p:cNvPr>
          <p:cNvSpPr>
            <a:spLocks noGrp="1"/>
          </p:cNvSpPr>
          <p:nvPr/>
        </p:nvSpPr>
        <p:spPr>
          <a:xfrm>
            <a:off x="542925" y="3914775"/>
            <a:ext cx="11096625" cy="409575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15000"/>
              </a:lnSpc>
              <a:buNone/>
              <a:defRPr sz="1725" i="0"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C2B4A"/>
                </a:solidFill>
                <a:latin typeface="Calibri"/>
                <a:ea typeface="Calibri"/>
                <a:cs typeface="Calibri"/>
              </a:rPr>
              <a:t>Review capacity must reflect assessor availability. No production deployment is established.</a:t>
            </a:r>
            <a:endParaRPr sz="115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105E541-6F14-4B25-AF7A-B18097AF7345}"/>
              </a:ext>
            </a:extLst>
          </p:cNvPr>
          <p:cNvSpPr>
            <a:spLocks noGrp="1"/>
          </p:cNvSpPr>
          <p:nvPr/>
        </p:nvSpPr>
        <p:spPr>
          <a:xfrm>
            <a:off x="548640" y="4315968"/>
            <a:ext cx="5486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 spc="100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STAGED ADOPTION ROADMAP</a:t>
            </a:r>
            <a:endParaRPr sz="120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DFFBA90B-E6C4-40F1-B772-8CFAB5EA9FC0}"/>
              </a:ext>
            </a:extLst>
          </p:cNvPr>
          <p:cNvSpPr>
            <a:spLocks noGrp="1"/>
          </p:cNvSpPr>
          <p:nvPr/>
        </p:nvSpPr>
        <p:spPr>
          <a:xfrm>
            <a:off x="548640" y="47091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C2B4A"/>
          </a:solidFill>
        </p:spPr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A53E9ACE-A24B-423C-9991-3C843EA865C7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548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C89B3C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15D8E66C-8DC9-409C-8690-C2D27316D30C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2331720" cy="762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Shadow Trial</a:t>
            </a:r>
            <a:endParaRPr sz="125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CDA85521-A43D-4B31-AED7-67C3650810D6}"/>
              </a:ext>
            </a:extLst>
          </p:cNvPr>
          <p:cNvSpPr>
            <a:spLocks noGrp="1"/>
          </p:cNvSpPr>
          <p:nvPr/>
        </p:nvSpPr>
        <p:spPr>
          <a:xfrm>
            <a:off x="3172968" y="5234940"/>
            <a:ext cx="146304" cy="182880"/>
          </a:xfrm>
          <a:prstGeom prst="rightArrow">
            <a:avLst/>
          </a:prstGeom>
          <a:solidFill>
            <a:srgbClr val="C89B3C"/>
          </a:solidFill>
        </p:spPr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6F5721C2-F0F6-49E7-BDDD-728562868914}"/>
              </a:ext>
            </a:extLst>
          </p:cNvPr>
          <p:cNvSpPr>
            <a:spLocks noGrp="1"/>
          </p:cNvSpPr>
          <p:nvPr/>
        </p:nvSpPr>
        <p:spPr>
          <a:xfrm>
            <a:off x="3337560" y="47091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C2B4A"/>
          </a:solidFill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0C3DE523-BC8F-47A4-B888-529DF5F81D4E}"/>
              </a:ext>
            </a:extLst>
          </p:cNvPr>
          <p:cNvSpPr>
            <a:spLocks noGrp="1"/>
          </p:cNvSpPr>
          <p:nvPr/>
        </p:nvSpPr>
        <p:spPr>
          <a:xfrm>
            <a:off x="3474720" y="4800600"/>
            <a:ext cx="548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C89B3C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6A35BECA-BE46-443C-B1B9-21CBF76E41C8}"/>
              </a:ext>
            </a:extLst>
          </p:cNvPr>
          <p:cNvSpPr>
            <a:spLocks noGrp="1"/>
          </p:cNvSpPr>
          <p:nvPr/>
        </p:nvSpPr>
        <p:spPr>
          <a:xfrm>
            <a:off x="3474720" y="5105400"/>
            <a:ext cx="2331720" cy="762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Measure Effort</a:t>
            </a:r>
            <a:endParaRPr sz="1250"/>
          </a:p>
          <a:p>
            <a:pPr marL="0" indent="0">
              <a:lnSpc>
                <a:spcPct val="110000"/>
              </a:lnSpc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Outcomes</a:t>
            </a:r>
            <a:endParaRPr sz="125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B1BACD78-5BC4-48C0-B5CB-C382692B4001}"/>
              </a:ext>
            </a:extLst>
          </p:cNvPr>
          <p:cNvSpPr>
            <a:spLocks noGrp="1"/>
          </p:cNvSpPr>
          <p:nvPr/>
        </p:nvSpPr>
        <p:spPr>
          <a:xfrm>
            <a:off x="5961888" y="5234940"/>
            <a:ext cx="146304" cy="182880"/>
          </a:xfrm>
          <a:prstGeom prst="rightArrow">
            <a:avLst/>
          </a:prstGeom>
          <a:solidFill>
            <a:srgbClr val="C89B3C"/>
          </a:solidFill>
        </p:spPr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1C51916A-8DEB-4A82-BEC2-85FC7154C0FF}"/>
              </a:ext>
            </a:extLst>
          </p:cNvPr>
          <p:cNvSpPr>
            <a:spLocks noGrp="1"/>
          </p:cNvSpPr>
          <p:nvPr/>
        </p:nvSpPr>
        <p:spPr>
          <a:xfrm>
            <a:off x="6126480" y="47091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C2B4A"/>
          </a:solidFill>
        </p:spPr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6AC65387-9658-4AEA-AB0A-C17709AAB29B}"/>
              </a:ext>
            </a:extLst>
          </p:cNvPr>
          <p:cNvSpPr>
            <a:spLocks noGrp="1"/>
          </p:cNvSpPr>
          <p:nvPr/>
        </p:nvSpPr>
        <p:spPr>
          <a:xfrm>
            <a:off x="6263640" y="4800600"/>
            <a:ext cx="548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C89B3C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DC28A6A7-FB43-46B5-939F-06111D08DB8F}"/>
              </a:ext>
            </a:extLst>
          </p:cNvPr>
          <p:cNvSpPr>
            <a:spLocks noGrp="1"/>
          </p:cNvSpPr>
          <p:nvPr/>
        </p:nvSpPr>
        <p:spPr>
          <a:xfrm>
            <a:off x="6263640" y="5105400"/>
            <a:ext cx="2331720" cy="762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 with</a:t>
            </a:r>
            <a:endParaRPr sz="1250"/>
          </a:p>
          <a:p>
            <a:pPr marL="0" indent="0">
              <a:lnSpc>
                <a:spcPct val="110000"/>
              </a:lnSpc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Verified Data</a:t>
            </a:r>
            <a:endParaRPr sz="125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DBD26708-FCC4-442D-B473-BF18F7CF6DE4}"/>
              </a:ext>
            </a:extLst>
          </p:cNvPr>
          <p:cNvSpPr>
            <a:spLocks noGrp="1"/>
          </p:cNvSpPr>
          <p:nvPr/>
        </p:nvSpPr>
        <p:spPr>
          <a:xfrm>
            <a:off x="8750808" y="5234940"/>
            <a:ext cx="146304" cy="182880"/>
          </a:xfrm>
          <a:prstGeom prst="rightArrow">
            <a:avLst/>
          </a:prstGeom>
          <a:solidFill>
            <a:srgbClr val="C89B3C"/>
          </a:solidFill>
        </p:spPr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2DC3A972-FF53-4AB0-8BE2-C578D0D3D986}"/>
              </a:ext>
            </a:extLst>
          </p:cNvPr>
          <p:cNvSpPr>
            <a:spLocks noGrp="1"/>
          </p:cNvSpPr>
          <p:nvPr/>
        </p:nvSpPr>
        <p:spPr>
          <a:xfrm>
            <a:off x="8915400" y="47091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C89B3C"/>
          </a:solidFill>
        </p:spPr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5FAFDA20-1A2C-4F80-B189-79B5FFFF6FD9}"/>
              </a:ext>
            </a:extLst>
          </p:cNvPr>
          <p:cNvSpPr>
            <a:spLocks noGrp="1"/>
          </p:cNvSpPr>
          <p:nvPr/>
        </p:nvSpPr>
        <p:spPr>
          <a:xfrm>
            <a:off x="9052560" y="4800600"/>
            <a:ext cx="548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1C2B4A"/>
                </a:solidFill>
                <a:latin typeface="Cambria"/>
                <a:ea typeface="Cambria"/>
                <a:cs typeface="Cambria"/>
              </a:rPr>
              <a:t>4</a:t>
            </a:r>
            <a:endParaRPr sz="200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C8115D0D-EB0A-42F8-9FCB-83D3D35A47E4}"/>
              </a:ext>
            </a:extLst>
          </p:cNvPr>
          <p:cNvSpPr>
            <a:spLocks noGrp="1"/>
          </p:cNvSpPr>
          <p:nvPr/>
        </p:nvSpPr>
        <p:spPr>
          <a:xfrm>
            <a:off x="9052560" y="5105400"/>
            <a:ext cx="2331720" cy="762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0000"/>
              </a:lnSpc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Controlled</a:t>
            </a:r>
            <a:endParaRPr sz="1250"/>
          </a:p>
          <a:p>
            <a:pPr marL="0" indent="0">
              <a:lnSpc>
                <a:spcPct val="110000"/>
              </a:lnSpc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Adoption</a:t>
            </a:r>
            <a:endParaRPr sz="1250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3A15ABC7-035E-41AD-8B4E-A5240FECEF81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PMFBY Claim Triage Intelligence — Consulting Presentation</a:t>
            </a:r>
            <a:endParaRPr sz="900"/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CA727FF2-8E11-4F5B-9779-06B02BCA0B42}"/>
              </a:ext>
            </a:extLst>
          </p:cNvPr>
          <p:cNvSpPr>
            <a:spLocks noGrp="1"/>
          </p:cNvSpPr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67389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AD97DFE-45D7-48FF-BF1B-45D22D68F1CA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en-IN" sz="3000" b="1" dirty="0">
                <a:solidFill>
                  <a:srgbClr val="1A1A1A"/>
                </a:solidFill>
                <a:latin typeface="Cambria"/>
                <a:ea typeface="Cambria"/>
              </a:rPr>
              <a:t>RISKS &amp; FUTURE ROADMAP</a:t>
            </a:r>
            <a:endParaRPr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8ADA95-077C-44FA-AE86-CDAEAD62E620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3566160" cy="1481328"/>
          </a:xfrm>
          <a:prstGeom prst="roundRect">
            <a:avLst>
              <a:gd name="adj" fmla="val 3704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F741B1F-F4E2-4432-A40C-253C38A4590C}"/>
              </a:ext>
            </a:extLst>
          </p:cNvPr>
          <p:cNvSpPr>
            <a:spLocks noGrp="1"/>
          </p:cNvSpPr>
          <p:nvPr/>
        </p:nvSpPr>
        <p:spPr>
          <a:xfrm>
            <a:off x="713232" y="1856232"/>
            <a:ext cx="502920" cy="502920"/>
          </a:xfrm>
          <a:prstGeom prst="ellipse">
            <a:avLst/>
          </a:prstGeom>
          <a:solidFill>
            <a:srgbClr val="A23B2E"/>
          </a:solidFill>
        </p:spPr>
      </p:sp>
      <p:pic>
        <p:nvPicPr>
          <p:cNvPr id="4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12" y="1921612"/>
            <a:ext cx="372161" cy="372161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3D3D271B-2694-4BF5-ABE5-2EC4D128FC4D}"/>
              </a:ext>
            </a:extLst>
          </p:cNvPr>
          <p:cNvSpPr>
            <a:spLocks noGrp="1"/>
          </p:cNvSpPr>
          <p:nvPr/>
        </p:nvSpPr>
        <p:spPr>
          <a:xfrm>
            <a:off x="1325880" y="1819656"/>
            <a:ext cx="2651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Synthetic outcomes</a:t>
            </a:r>
            <a:endParaRPr sz="12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DC55712-D438-4A99-8887-2EA7C89C6AF4}"/>
              </a:ext>
            </a:extLst>
          </p:cNvPr>
          <p:cNvSpPr>
            <a:spLocks noGrp="1"/>
          </p:cNvSpPr>
          <p:nvPr/>
        </p:nvSpPr>
        <p:spPr>
          <a:xfrm>
            <a:off x="1325880" y="2194560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2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 dirty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2M scenarios are not independent real observations.</a:t>
            </a:r>
            <a:endParaRPr sz="10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13237B4-C9D7-4A03-BC93-0301082F7CFA}"/>
              </a:ext>
            </a:extLst>
          </p:cNvPr>
          <p:cNvSpPr>
            <a:spLocks noGrp="1"/>
          </p:cNvSpPr>
          <p:nvPr/>
        </p:nvSpPr>
        <p:spPr>
          <a:xfrm>
            <a:off x="4297680" y="1691640"/>
            <a:ext cx="3566160" cy="1481328"/>
          </a:xfrm>
          <a:prstGeom prst="roundRect">
            <a:avLst>
              <a:gd name="adj" fmla="val 3704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C1FDC6D-0ACC-46EE-8C33-B8726455202C}"/>
              </a:ext>
            </a:extLst>
          </p:cNvPr>
          <p:cNvSpPr>
            <a:spLocks noGrp="1"/>
          </p:cNvSpPr>
          <p:nvPr/>
        </p:nvSpPr>
        <p:spPr>
          <a:xfrm>
            <a:off x="4462272" y="1856232"/>
            <a:ext cx="502920" cy="502920"/>
          </a:xfrm>
          <a:prstGeom prst="ellipse">
            <a:avLst/>
          </a:prstGeom>
          <a:solidFill>
            <a:srgbClr val="A23B2E"/>
          </a:solidFill>
        </p:spPr>
      </p:sp>
      <p:pic>
        <p:nvPicPr>
          <p:cNvPr id="53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652" y="1921612"/>
            <a:ext cx="372161" cy="372161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120049E3-DED2-4F35-9F2A-160F82AEE6A9}"/>
              </a:ext>
            </a:extLst>
          </p:cNvPr>
          <p:cNvSpPr>
            <a:spLocks noGrp="1"/>
          </p:cNvSpPr>
          <p:nvPr/>
        </p:nvSpPr>
        <p:spPr>
          <a:xfrm>
            <a:off x="5074920" y="1819656"/>
            <a:ext cx="2651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Context-level evidence</a:t>
            </a:r>
            <a:endParaRPr sz="12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8AE4468-AB31-470F-9EAE-8FEDAB93DF0C}"/>
              </a:ext>
            </a:extLst>
          </p:cNvPr>
          <p:cNvSpPr>
            <a:spLocks noGrp="1"/>
          </p:cNvSpPr>
          <p:nvPr/>
        </p:nvSpPr>
        <p:spPr>
          <a:xfrm>
            <a:off x="5074920" y="2194560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2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 dirty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District evidence cannot establish individual field loss.</a:t>
            </a:r>
            <a:endParaRPr sz="10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FB1B3C6-9EC5-4E53-AC2E-2944B09B02AC}"/>
              </a:ext>
            </a:extLst>
          </p:cNvPr>
          <p:cNvSpPr>
            <a:spLocks noGrp="1"/>
          </p:cNvSpPr>
          <p:nvPr/>
        </p:nvSpPr>
        <p:spPr>
          <a:xfrm>
            <a:off x="8046720" y="1691640"/>
            <a:ext cx="3566160" cy="1481328"/>
          </a:xfrm>
          <a:prstGeom prst="roundRect">
            <a:avLst>
              <a:gd name="adj" fmla="val 3704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255B769-2348-47AA-8558-7013C19F9AF7}"/>
              </a:ext>
            </a:extLst>
          </p:cNvPr>
          <p:cNvSpPr>
            <a:spLocks noGrp="1"/>
          </p:cNvSpPr>
          <p:nvPr/>
        </p:nvSpPr>
        <p:spPr>
          <a:xfrm>
            <a:off x="8211312" y="1856232"/>
            <a:ext cx="502920" cy="502920"/>
          </a:xfrm>
          <a:prstGeom prst="ellipse">
            <a:avLst/>
          </a:prstGeom>
          <a:solidFill>
            <a:srgbClr val="A23B2E"/>
          </a:solidFill>
        </p:spPr>
      </p:sp>
      <p:pic>
        <p:nvPicPr>
          <p:cNvPr id="58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6692" y="1921612"/>
            <a:ext cx="372161" cy="372161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1EB95A6B-9D75-4160-9285-E40C7A660BB6}"/>
              </a:ext>
            </a:extLst>
          </p:cNvPr>
          <p:cNvSpPr>
            <a:spLocks noGrp="1"/>
          </p:cNvSpPr>
          <p:nvPr/>
        </p:nvSpPr>
        <p:spPr>
          <a:xfrm>
            <a:off x="8823960" y="1819656"/>
            <a:ext cx="2651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Assumed thresholds</a:t>
            </a:r>
            <a:endParaRPr sz="12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F67EC0B-D6B7-4377-8F15-B77292C5A15E}"/>
              </a:ext>
            </a:extLst>
          </p:cNvPr>
          <p:cNvSpPr>
            <a:spLocks noGrp="1"/>
          </p:cNvSpPr>
          <p:nvPr/>
        </p:nvSpPr>
        <p:spPr>
          <a:xfrm>
            <a:off x="8823960" y="2194560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2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Engineering choices, uncalibrated to actual crop damage.</a:t>
            </a:r>
            <a:endParaRPr sz="100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0DFD827-C715-4AFE-829B-EAC365C36A0B}"/>
              </a:ext>
            </a:extLst>
          </p:cNvPr>
          <p:cNvSpPr>
            <a:spLocks noGrp="1"/>
          </p:cNvSpPr>
          <p:nvPr/>
        </p:nvSpPr>
        <p:spPr>
          <a:xfrm>
            <a:off x="548640" y="3355848"/>
            <a:ext cx="3566160" cy="1481328"/>
          </a:xfrm>
          <a:prstGeom prst="roundRect">
            <a:avLst>
              <a:gd name="adj" fmla="val 3704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72BBFAE8-8467-4127-AC54-8D4C0FF40CAA}"/>
              </a:ext>
            </a:extLst>
          </p:cNvPr>
          <p:cNvSpPr>
            <a:spLocks noGrp="1"/>
          </p:cNvSpPr>
          <p:nvPr/>
        </p:nvSpPr>
        <p:spPr>
          <a:xfrm>
            <a:off x="713232" y="3520440"/>
            <a:ext cx="502920" cy="502920"/>
          </a:xfrm>
          <a:prstGeom prst="ellipse">
            <a:avLst/>
          </a:prstGeom>
          <a:solidFill>
            <a:srgbClr val="A23B2E"/>
          </a:solidFill>
        </p:spPr>
      </p:sp>
      <p:pic>
        <p:nvPicPr>
          <p:cNvPr id="63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612" y="3585820"/>
            <a:ext cx="372161" cy="372161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627D436E-FD88-4FAD-8710-395F3B52580C}"/>
              </a:ext>
            </a:extLst>
          </p:cNvPr>
          <p:cNvSpPr>
            <a:spLocks noGrp="1"/>
          </p:cNvSpPr>
          <p:nvPr/>
        </p:nvSpPr>
        <p:spPr>
          <a:xfrm>
            <a:off x="1325880" y="3483864"/>
            <a:ext cx="2651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Limited testing</a:t>
            </a:r>
            <a:endParaRPr sz="120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D208B45-9E76-4FB8-BF5D-ECED1D37638A}"/>
              </a:ext>
            </a:extLst>
          </p:cNvPr>
          <p:cNvSpPr>
            <a:spLocks noGrp="1"/>
          </p:cNvSpPr>
          <p:nvPr/>
        </p:nvSpPr>
        <p:spPr>
          <a:xfrm>
            <a:off x="1325880" y="3858768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2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Other seeds, mechanisms and unseen districts are untested.</a:t>
            </a:r>
            <a:endParaRPr sz="100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7A8CA7EF-6A65-4444-964B-B5AF8ECE10FE}"/>
              </a:ext>
            </a:extLst>
          </p:cNvPr>
          <p:cNvSpPr>
            <a:spLocks noGrp="1"/>
          </p:cNvSpPr>
          <p:nvPr/>
        </p:nvSpPr>
        <p:spPr>
          <a:xfrm>
            <a:off x="4297680" y="3355848"/>
            <a:ext cx="3566160" cy="1481328"/>
          </a:xfrm>
          <a:prstGeom prst="roundRect">
            <a:avLst>
              <a:gd name="adj" fmla="val 3704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A7EED139-60D3-41B9-8B42-40E3695D90D3}"/>
              </a:ext>
            </a:extLst>
          </p:cNvPr>
          <p:cNvSpPr>
            <a:spLocks noGrp="1"/>
          </p:cNvSpPr>
          <p:nvPr/>
        </p:nvSpPr>
        <p:spPr>
          <a:xfrm>
            <a:off x="4462272" y="3520440"/>
            <a:ext cx="502920" cy="502920"/>
          </a:xfrm>
          <a:prstGeom prst="ellipse">
            <a:avLst/>
          </a:prstGeom>
          <a:solidFill>
            <a:srgbClr val="A23B2E"/>
          </a:solidFill>
        </p:spPr>
      </p:sp>
      <p:pic>
        <p:nvPicPr>
          <p:cNvPr id="68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7652" y="3585820"/>
            <a:ext cx="372161" cy="372161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F6E538E4-F288-4028-B221-25A0D2CA3062}"/>
              </a:ext>
            </a:extLst>
          </p:cNvPr>
          <p:cNvSpPr>
            <a:spLocks noGrp="1"/>
          </p:cNvSpPr>
          <p:nvPr/>
        </p:nvSpPr>
        <p:spPr>
          <a:xfrm>
            <a:off x="5074920" y="3483864"/>
            <a:ext cx="2651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Unmeasured benefits</a:t>
            </a:r>
            <a:endParaRPr sz="120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360B9382-4401-4EA4-834D-6219B499E482}"/>
              </a:ext>
            </a:extLst>
          </p:cNvPr>
          <p:cNvSpPr>
            <a:spLocks noGrp="1"/>
          </p:cNvSpPr>
          <p:nvPr/>
        </p:nvSpPr>
        <p:spPr>
          <a:xfrm>
            <a:off x="5074920" y="3858768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2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Assessor time, settlement speed, savings and ROI: not measured.</a:t>
            </a:r>
            <a:endParaRPr sz="100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95DC3531-26C6-4F59-8929-EB00F8DFFDCC}"/>
              </a:ext>
            </a:extLst>
          </p:cNvPr>
          <p:cNvSpPr>
            <a:spLocks noGrp="1"/>
          </p:cNvSpPr>
          <p:nvPr/>
        </p:nvSpPr>
        <p:spPr>
          <a:xfrm>
            <a:off x="8046720" y="3355848"/>
            <a:ext cx="3566160" cy="1481328"/>
          </a:xfrm>
          <a:prstGeom prst="roundRect">
            <a:avLst>
              <a:gd name="adj" fmla="val 3704"/>
            </a:avLst>
          </a:prstGeom>
          <a:solidFill>
            <a:srgbClr val="FAFAF8"/>
          </a:solidFill>
          <a:ln w="9525">
            <a:solidFill>
              <a:srgbClr val="DAD9D3"/>
            </a:solidFill>
            <a:prstDash val="solid"/>
          </a:ln>
        </p:spPr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769195BC-BF64-4BA3-86CD-21CC5E2103AD}"/>
              </a:ext>
            </a:extLst>
          </p:cNvPr>
          <p:cNvSpPr>
            <a:spLocks noGrp="1"/>
          </p:cNvSpPr>
          <p:nvPr/>
        </p:nvSpPr>
        <p:spPr>
          <a:xfrm>
            <a:off x="8211312" y="3520440"/>
            <a:ext cx="502920" cy="502920"/>
          </a:xfrm>
          <a:prstGeom prst="ellipse">
            <a:avLst/>
          </a:prstGeom>
          <a:solidFill>
            <a:srgbClr val="A23B2E"/>
          </a:solidFill>
        </p:spPr>
      </p:sp>
      <p:pic>
        <p:nvPicPr>
          <p:cNvPr id="73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6692" y="3585820"/>
            <a:ext cx="372161" cy="372161"/>
          </a:xfrm>
          <a:prstGeom prst="rect">
            <a:avLst/>
          </a:prstGeom>
        </p:spPr>
      </p:pic>
      <p:sp>
        <p:nvSpPr>
          <p:cNvPr id="32" name="Text 24">
            <a:extLst>
              <a:ext uri="{FF2B5EF4-FFF2-40B4-BE49-F238E27FC236}">
                <a16:creationId xmlns:a16="http://schemas.microsoft.com/office/drawing/2014/main" id="{E99895A9-4697-4C30-B899-5B9636FD5F66}"/>
              </a:ext>
            </a:extLst>
          </p:cNvPr>
          <p:cNvSpPr>
            <a:spLocks noGrp="1"/>
          </p:cNvSpPr>
          <p:nvPr/>
        </p:nvSpPr>
        <p:spPr>
          <a:xfrm>
            <a:off x="8823960" y="3483864"/>
            <a:ext cx="2651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800" i="0"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 live feedback</a:t>
            </a:r>
            <a:endParaRPr sz="120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093E71C3-FE4C-49BD-8EED-6754BCB529CA}"/>
              </a:ext>
            </a:extLst>
          </p:cNvPr>
          <p:cNvSpPr>
            <a:spLocks noGrp="1"/>
          </p:cNvSpPr>
          <p:nvPr/>
        </p:nvSpPr>
        <p:spPr>
          <a:xfrm>
            <a:off x="8823960" y="3858768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2000"/>
              </a:lnSpc>
              <a:buNone/>
              <a:defRPr sz="1650" i="0">
                <a:latin typeface="Calibri"/>
                <a:ea typeface="Calibri"/>
                <a:cs typeface="Calibri"/>
              </a:defRPr>
            </a:pPr>
            <a:r>
              <a:rPr sz="1650" i="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Appeals and error correction remain to be implemented.</a:t>
            </a:r>
            <a:endParaRPr sz="100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525DF5FD-401F-4E11-89AD-EC3F54E533D6}"/>
              </a:ext>
            </a:extLst>
          </p:cNvPr>
          <p:cNvSpPr>
            <a:spLocks noGrp="1"/>
          </p:cNvSpPr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EAF0EC"/>
          </a:solidFill>
        </p:spPr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1920834E-441A-4BCE-A9D0-4FE12F23464E}"/>
              </a:ext>
            </a:extLst>
          </p:cNvPr>
          <p:cNvSpPr>
            <a:spLocks noGrp="1"/>
          </p:cNvSpPr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Contribution: an integrated pipeline and controlled prioritisation study.</a:t>
            </a:r>
            <a:endParaRPr sz="1300"/>
          </a:p>
          <a:p>
            <a:pPr marL="0" indent="0">
              <a:buNone/>
              <a:defRPr sz="1875" i="0"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E4438"/>
                </a:solidFill>
                <a:latin typeface="Calibri"/>
                <a:ea typeface="Calibri"/>
                <a:cs typeface="Calibri"/>
              </a:rPr>
              <a:t>Real-world effectiveness still requires supervised validation.</a:t>
            </a:r>
            <a:endParaRPr sz="130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C5B49FA6-F3B0-4735-A77A-4B1ECDD76BC9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PMFBY Claim Triage Intelligence — Consulting Presentation</a:t>
            </a:r>
            <a:endParaRPr sz="90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C271C4DF-ED61-44F2-AB3B-DF28FEC69E17}"/>
              </a:ext>
            </a:extLst>
          </p:cNvPr>
          <p:cNvSpPr>
            <a:spLocks noGrp="1"/>
          </p:cNvSpPr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B6F6D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BC998A66-8BC4-65D0-A4CC-7400175E5D81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en-IN" sz="1200" b="1" spc="200" dirty="0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SETTING BOUNDARIES 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8931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77766E-DE1F-4E14-883A-E3CBF4523E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5302A"/>
          </a:solidFill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D69BC6C-9306-4A49-AF23-33E4742A33E6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325880" cy="1325880"/>
          </a:xfrm>
          <a:prstGeom prst="ellipse">
            <a:avLst/>
          </a:prstGeom>
          <a:solidFill>
            <a:srgbClr val="1E4438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389888"/>
            <a:ext cx="731520" cy="73152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A0CD6684-82B7-4D86-8436-A2F755029D51}"/>
              </a:ext>
            </a:extLst>
          </p:cNvPr>
          <p:cNvSpPr>
            <a:spLocks noGrp="1"/>
          </p:cNvSpPr>
          <p:nvPr/>
        </p:nvSpPr>
        <p:spPr>
          <a:xfrm>
            <a:off x="2468880" y="1097280"/>
            <a:ext cx="1325880" cy="1325880"/>
          </a:xfrm>
          <a:prstGeom prst="ellipse">
            <a:avLst/>
          </a:prstGeom>
          <a:solidFill>
            <a:srgbClr val="1E4438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2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1389888"/>
            <a:ext cx="731520" cy="731520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AF457718-A9D8-458B-99E9-E3C322033A8D}"/>
              </a:ext>
            </a:extLst>
          </p:cNvPr>
          <p:cNvSpPr>
            <a:spLocks noGrp="1"/>
          </p:cNvSpPr>
          <p:nvPr/>
        </p:nvSpPr>
        <p:spPr>
          <a:xfrm>
            <a:off x="731520" y="3017520"/>
            <a:ext cx="1325880" cy="1325880"/>
          </a:xfrm>
          <a:prstGeom prst="ellipse">
            <a:avLst/>
          </a:prstGeom>
          <a:solidFill>
            <a:srgbClr val="1E4438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26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3310128"/>
            <a:ext cx="731520" cy="731520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D5096428-D994-410C-B5CF-E3394905EB62}"/>
              </a:ext>
            </a:extLst>
          </p:cNvPr>
          <p:cNvSpPr>
            <a:spLocks noGrp="1"/>
          </p:cNvSpPr>
          <p:nvPr/>
        </p:nvSpPr>
        <p:spPr>
          <a:xfrm>
            <a:off x="2468880" y="3017520"/>
            <a:ext cx="1325880" cy="1325880"/>
          </a:xfrm>
          <a:prstGeom prst="ellipse">
            <a:avLst/>
          </a:prstGeom>
          <a:solidFill>
            <a:srgbClr val="1E4438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28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488" y="3310128"/>
            <a:ext cx="731520" cy="73152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6F0BA198-2D19-41F0-9630-CA40B680AB4A}"/>
              </a:ext>
            </a:extLst>
          </p:cNvPr>
          <p:cNvSpPr>
            <a:spLocks noGrp="1"/>
          </p:cNvSpPr>
          <p:nvPr/>
        </p:nvSpPr>
        <p:spPr>
          <a:xfrm>
            <a:off x="4937760" y="242316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  <a:endParaRPr sz="420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6016694-0263-4B43-8016-C3D999ACF774}"/>
              </a:ext>
            </a:extLst>
          </p:cNvPr>
          <p:cNvSpPr>
            <a:spLocks noGrp="1"/>
          </p:cNvSpPr>
          <p:nvPr/>
        </p:nvSpPr>
        <p:spPr>
          <a:xfrm>
            <a:off x="4937760" y="3246120"/>
            <a:ext cx="6583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i="1">
                <a:solidFill>
                  <a:srgbClr val="C89B3C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sz="160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1933A991-D702-4897-ADF7-65E43A1AEB64}"/>
              </a:ext>
            </a:extLst>
          </p:cNvPr>
          <p:cNvSpPr>
            <a:spLocks noGrp="1"/>
          </p:cNvSpPr>
          <p:nvPr/>
        </p:nvSpPr>
        <p:spPr>
          <a:xfrm>
            <a:off x="4956048" y="3977640"/>
            <a:ext cx="2377440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7752586-CB6D-4845-9B73-42E77CD14E46}"/>
              </a:ext>
            </a:extLst>
          </p:cNvPr>
          <p:cNvSpPr>
            <a:spLocks noGrp="1"/>
          </p:cNvSpPr>
          <p:nvPr/>
        </p:nvSpPr>
        <p:spPr>
          <a:xfrm>
            <a:off x="4933950" y="4200525"/>
            <a:ext cx="6400800" cy="952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i="0" dirty="0">
                <a:solidFill>
                  <a:srgbClr val="CFE0D6"/>
                </a:solidFill>
                <a:latin typeface="Calibri"/>
                <a:ea typeface="Calibri"/>
                <a:cs typeface="Calibri"/>
              </a:rPr>
              <a:t>Agricultural evidence for human assessment</a:t>
            </a:r>
            <a:endParaRPr sz="1300" dirty="0"/>
          </a:p>
          <a:p>
            <a:pPr marL="0" indent="0">
              <a:lnSpc>
                <a:spcPct val="120000"/>
              </a:lnSpc>
              <a:buNone/>
              <a:defRPr sz="1950" i="0">
                <a:latin typeface="Calibri"/>
                <a:ea typeface="Calibri"/>
                <a:cs typeface="Calibri"/>
              </a:defRPr>
            </a:pPr>
            <a:r>
              <a:rPr sz="1950" i="0" dirty="0">
                <a:solidFill>
                  <a:srgbClr val="CFE0D6"/>
                </a:solidFill>
                <a:latin typeface="Calibri"/>
                <a:ea typeface="Calibri"/>
                <a:cs typeface="Calibri"/>
              </a:rPr>
              <a:t>An engineering baseline for further validation</a:t>
            </a:r>
            <a:endParaRPr sz="13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BDF7868-FA38-418A-BDCF-1DEABCCD003B}"/>
              </a:ext>
            </a:extLst>
          </p:cNvPr>
          <p:cNvSpPr>
            <a:spLocks noGrp="1"/>
          </p:cNvSpPr>
          <p:nvPr/>
        </p:nvSpPr>
        <p:spPr>
          <a:xfrm>
            <a:off x="4937760" y="6126480"/>
            <a:ext cx="6400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Group C-II  ·  PMFBY Claim Triage Intelligence  ·  Big Data Analytics, Trimester IV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1986586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797</Words>
  <Application>Microsoft Office PowerPoint</Application>
  <DocSecurity>0</DocSecurity>
  <PresentationFormat>Widescreen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Navneet Narula</cp:lastModifiedBy>
  <cp:revision>6</cp:revision>
  <dcterms:created xsi:type="dcterms:W3CDTF">2026-09-09T17:53:37Z</dcterms:created>
  <dcterms:modified xsi:type="dcterms:W3CDTF">2026-09-10T10:46:06Z</dcterms:modified>
</cp:coreProperties>
</file>